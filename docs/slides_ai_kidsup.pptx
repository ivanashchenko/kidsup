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Я владелец детского центра KidsUP. Сегодня расскажу не про нейросети вообще, а про одного конкретного сотрудника, которого зовут Клод, и который у нас работает с 19 августа.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не в том, что мало звонят. Проблема в том, что никто не держит всю картину целиком: сколько мест, кому обещали, что просрочено.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отличие — инициатива. Чат-бот реактивен. Сотрудник проактивен: он приходит утром с готовым списком того, что надо сделать.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Ключевое: писать он может далеко не везде. В телефонию — вообще ничего, только слушает.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Расписание — это и есть разница между инструментом и сотрудником. Никто не нажимает кнопку.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«Не взяли трубку» — это про базу. «Бросили за 10 секунд» — это про манеру набирать. Раньше это была одна цифра.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самый недооценённый слайд. Экономия тридцати секунд на звонке — это двадцать минут за смену у каждого администратора.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Просроченных на момент разбора было 837. Причём 167 из 215 висящих задач стояли на архивных карточках — на людях, которых давно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Полмиллиона без подписи — это не кража. Это значит, что мы не знаем, кто продал. А значит, не можем ни похвалить, ни спросить.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Самое важное здесь — адресность. Находка, отправленная «всем», не выполняется никем.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Регламент, который никто не написал, не существует. Здесь он пишется за вечер и правится за минуту.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Ни одна из этих историй не про технологии. Все они про то, что человек не может держать в голове семь тысяч карточек.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вам будут обещать икс два по выручке на второй неделе — не верьте. Честный результат первых дней — это найденные деньги и разобранные списки.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снимает главный страх зала: что робот что-нибудь сломает. Он не сломает то, к чему его не пустили.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Ошибка, которая превратилась в правило, стоит дешевле, чем ошибка, о которой поговорили на планёрке.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шагов. Ни один из них не требует программиста в штате — требуют они только решения владельца о том, что можно трогать, а что нельзя.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Спасибо. Если после доклада останется одна мысль — пусть это будет мысль про границы: сначала решите, чего он делать не будет.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7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4572000" cy="4572000"/>
          </a:xfrm>
          <a:prstGeom prst="ellipse">
            <a:avLst/>
          </a:prstGeom>
          <a:solidFill>
            <a:srgbClr val="1DA7E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114800"/>
            <a:ext cx="3108960" cy="3108960"/>
          </a:xfrm>
          <a:prstGeom prst="ellipse">
            <a:avLst/>
          </a:prstGeom>
          <a:solidFill>
            <a:srgbClr val="7DB928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663440"/>
            <a:ext cx="2743200" cy="2743200"/>
          </a:xfrm>
          <a:prstGeom prst="ellipse">
            <a:avLst/>
          </a:prstGeom>
          <a:solidFill>
            <a:srgbClr val="F59C00">
              <a:alpha val="12000"/>
            </a:srgbClr>
          </a:solidFill>
          <a:ln/>
        </p:spPr>
      </p:sp>
      <p:pic>
        <p:nvPicPr>
          <p:cNvPr id="5" name="Image 0" descr="/home/user/kidsup/app/static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58368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01952" y="969264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9FD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ДЕТСКИЙ ЦЕНТР И АНГЛИЙСКИЙ САД KidsUP · МОСКВА, БУЛЬВАР РОКОССОВСКОГО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2011680"/>
            <a:ext cx="10515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ИИ-сотрудник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детском центре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13232" y="395020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C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умеет Клод внутри CRM, телефонии и мессенджеров — и что из этого получилось за первые дни работы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85800" y="498348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1DA7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9834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398 мест в 93 группах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931920" y="498348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1DA7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31920" y="49834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систем в одних руках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178040" y="498348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1DA7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78040" y="49834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19–21 августа 2026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13232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D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kidsup.ru · б-р Маршала Рокоссовского, 6 к1В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03504" cy="603504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ВСЁ НАЧАЛОСЬ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 идёт — а держится он на памяти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623560" cy="4873752"/>
          </a:xfrm>
          <a:prstGeom prst="roundRect">
            <a:avLst>
              <a:gd name="adj" fmla="val 1876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4592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Осень 2026: точка отсчёта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084832"/>
            <a:ext cx="5074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30 сентября — 41 день. Нужный темп 8,6 записей в день, фактический темп августа — 3,1.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«Вчера 146 наборов дали 25 детей»: работа идёт, а результат никто не считает в моменте.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Обещания живут в голове администратора. Что сказали в трубку — не проверит никто.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открытых задач и 837 просроченных. Список такого размера перестаёт читаться.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небольшая: четыре администратора на 7 894 клиента в базе.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5138928"/>
            <a:ext cx="50749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5138928"/>
            <a:ext cx="4709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127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Всё это держалось на памяти четырёх человек и на бумажках у монитора.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65392" y="1563624"/>
            <a:ext cx="2212848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65392" y="2399386"/>
            <a:ext cx="2212848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 в 93 группах нового учебного года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16568" y="141732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81160" y="1563624"/>
            <a:ext cx="2212848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5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281160" y="2399386"/>
            <a:ext cx="2212848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них свободны на 20 августа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3328416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65392" y="3474720"/>
            <a:ext cx="2212848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565392" y="4310482"/>
            <a:ext cx="2212848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заполненность на старте разговора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16568" y="3328416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81160" y="3474720"/>
            <a:ext cx="2212848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DA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9281160" y="4310482"/>
            <a:ext cx="2212848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до 30 сентября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5239512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29400" y="537667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828 210 ₽ </a:t>
            </a:r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 с 1 августа. Средний доход с клиента — </a:t>
            </a:r>
            <a:pPr indent="0" marL="0">
              <a:buNone/>
            </a:pPr>
            <a:r>
              <a:rPr lang="en-US" sz="12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45 091 ₽ </a:t>
            </a:r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учебный год: каждое незакрытое место считается в этих деньгах.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03504" cy="603504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чат-бот и не робот-обзвонщик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532120" cy="3383280"/>
          </a:xfrm>
          <a:prstGeom prst="roundRect">
            <a:avLst>
              <a:gd name="adj" fmla="val 2703"/>
            </a:avLst>
          </a:prstGeom>
          <a:solidFill>
            <a:srgbClr val="F2F2F6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45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3061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ОН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12848"/>
            <a:ext cx="4983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виджет на сайте, который отвечает, только когда его спросили.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автообзвон: он не звонит родителям вместо администратора.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отдельная программа «сбоку», с новым паролем и новой вкладкой.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замена человеку: решение про ребёнка и про деньги остаётся за человеком.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53912" y="1417320"/>
            <a:ext cx="5532120" cy="3383280"/>
          </a:xfrm>
          <a:prstGeom prst="roundRect">
            <a:avLst>
              <a:gd name="adj" fmla="val 2703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1645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7DB928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1645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ОН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2212848"/>
            <a:ext cx="4983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внутри тех же систем, что и люди: CRM, телефония, мессенджеры.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него есть имя и подпись — каждое действие видно в журнале и адресовано автору.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Ставит задачи людям и получает задачи от них, как обычный коллега.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по расписанию, а не по запросу: в 07:00 синхронизация, в 09:00 аудит денег.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5074920"/>
            <a:ext cx="11183112" cy="1216152"/>
          </a:xfrm>
          <a:prstGeom prst="roundRect">
            <a:avLst>
              <a:gd name="adj" fmla="val 7519"/>
            </a:avLst>
          </a:prstGeom>
          <a:solidFill>
            <a:srgbClr val="312783"/>
          </a:solidFill>
          <a:ln/>
          <a:effectLst>
            <a:outerShdw sx="100000" sy="100000" kx="0" ky="0" algn="bl" rotWithShape="0" blurRad="177800" dist="38100" dir="5400000">
              <a:srgbClr val="0D093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5074920"/>
            <a:ext cx="105430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«Чат-бот отвечает, когда его спросили. Сотрудник работает, когда его никто не спрашивает»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03504" cy="603504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ПОДКЛЮЧЕНИЙ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систем в одних руках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703320" y="1920240"/>
            <a:ext cx="457200" cy="0"/>
          </a:xfrm>
          <a:prstGeom prst="line">
            <a:avLst/>
          </a:prstGeom>
          <a:noFill/>
          <a:ln w="22225">
            <a:solidFill>
              <a:srgbClr val="B9C0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03320" y="3465576"/>
            <a:ext cx="457200" cy="0"/>
          </a:xfrm>
          <a:prstGeom prst="line">
            <a:avLst/>
          </a:prstGeom>
          <a:noFill/>
          <a:ln w="22225">
            <a:solidFill>
              <a:srgbClr val="B9C0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3320" y="5010912"/>
            <a:ext cx="457200" cy="0"/>
          </a:xfrm>
          <a:prstGeom prst="line">
            <a:avLst/>
          </a:prstGeom>
          <a:noFill/>
          <a:ln w="22225">
            <a:solidFill>
              <a:srgbClr val="B9C0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920240"/>
            <a:ext cx="0" cy="3090672"/>
          </a:xfrm>
          <a:prstGeom prst="line">
            <a:avLst/>
          </a:prstGeom>
          <a:noFill/>
          <a:ln w="22225">
            <a:solidFill>
              <a:srgbClr val="B9C0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3465576"/>
            <a:ext cx="411480" cy="0"/>
          </a:xfrm>
          <a:prstGeom prst="line">
            <a:avLst/>
          </a:prstGeom>
          <a:noFill/>
          <a:ln w="22225">
            <a:solidFill>
              <a:srgbClr val="B9C0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28432" y="2651760"/>
            <a:ext cx="457200" cy="0"/>
          </a:xfrm>
          <a:prstGeom prst="line">
            <a:avLst/>
          </a:prstGeom>
          <a:noFill/>
          <a:ln w="22225">
            <a:solidFill>
              <a:srgbClr val="B9C0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28432" y="4901184"/>
            <a:ext cx="457200" cy="0"/>
          </a:xfrm>
          <a:prstGeom prst="line">
            <a:avLst/>
          </a:prstGeom>
          <a:noFill/>
          <a:ln w="22225">
            <a:solidFill>
              <a:srgbClr val="B9C0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28432" y="2651760"/>
            <a:ext cx="0" cy="2249424"/>
          </a:xfrm>
          <a:prstGeom prst="line">
            <a:avLst/>
          </a:prstGeom>
          <a:noFill/>
          <a:ln w="22225">
            <a:solidFill>
              <a:srgbClr val="B9C0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16952" y="3465576"/>
            <a:ext cx="411480" cy="0"/>
          </a:xfrm>
          <a:prstGeom prst="line">
            <a:avLst/>
          </a:prstGeom>
          <a:noFill/>
          <a:ln w="22225">
            <a:solidFill>
              <a:srgbClr val="B9C0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298448"/>
            <a:ext cx="320040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5875">
            <a:solidFill>
              <a:srgbClr val="1DA7E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" y="138988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МойКласс — CRM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7512" y="168249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7DB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читает: 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клиентов, платежи, группы, задачи, посещаемость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7512" y="2084832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59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пишет: 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задачи, подсказки в карточку, статусы, теги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2843784"/>
            <a:ext cx="320040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5875">
            <a:solidFill>
              <a:srgbClr val="7DB928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" y="2935224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Mango Office — АТС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7512" y="3227832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7DB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читает: 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звонков и mp3-записи разговоров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7512" y="363016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59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пишет: 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ничего: в телефонии доступ только на чтение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4389120"/>
            <a:ext cx="320040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5875">
            <a:solidFill>
              <a:srgbClr val="F59C0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7512" y="448056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Wazzup — мессенджеры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7512" y="477316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7DB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читает: 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входящие сообщения и статусы доставки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7512" y="5175504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59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пишет: 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сообщения родителям, чинит свой вебхук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485632" y="2029968"/>
            <a:ext cx="320040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5875">
            <a:solidFill>
              <a:srgbClr val="1DA7E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50224" y="212140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и квизы Marquiz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650224" y="241401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7DB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читает: 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заявки, клики по мессенджерам, контакты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50224" y="2816352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59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пишет: 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 в свою базу и заявку в МойКласс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485632" y="4279392"/>
            <a:ext cx="320040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5875">
            <a:solidFill>
              <a:srgbClr val="7DB928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650224" y="4370832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Roistat — аналитика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650224" y="466344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7DB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читает: 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визита из комментария в карточке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50224" y="506577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59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пишет: 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оплаты, возвраты и заявки как заказы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2843784"/>
            <a:ext cx="3044952" cy="1243584"/>
          </a:xfrm>
          <a:prstGeom prst="roundRect">
            <a:avLst>
              <a:gd name="adj" fmla="val 7353"/>
            </a:avLst>
          </a:prstGeom>
          <a:solidFill>
            <a:srgbClr val="312783"/>
          </a:solidFill>
          <a:ln/>
          <a:effectLst>
            <a:outerShdw sx="100000" sy="100000" kx="0" ky="0" algn="bl" rotWithShape="0" blurRad="177800" dist="38100" dir="5400000">
              <a:srgbClr val="0D093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0" y="2843784"/>
            <a:ext cx="30449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ИИ-сотрудник
</a:t>
            </a:r>
            <a:pPr algn="ctr" indent="0" marL="0">
              <a:buNone/>
            </a:pPr>
            <a:r>
              <a:rPr lang="en-US" sz="1050" dirty="0">
                <a:solidFill>
                  <a:srgbClr val="9FD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13 867 строк · 98 эндпоинтов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02920" y="5925312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Полные ответы систем сохраняются как есть — ни одно поле не теряется. Портал: 98 эндпоинтов и 25 рабочих страниц для команды.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03504" cy="603504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ИИ-СОТРУДНИКА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 без команды человека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2395728"/>
            <a:ext cx="10881360" cy="0"/>
          </a:xfrm>
          <a:prstGeom prst="line">
            <a:avLst/>
          </a:prstGeom>
          <a:noFill/>
          <a:ln w="31750">
            <a:solidFill>
              <a:srgbClr val="DCE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84708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07:00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7784" y="2258568"/>
            <a:ext cx="274320" cy="274320"/>
          </a:xfrm>
          <a:prstGeom prst="ellipse">
            <a:avLst/>
          </a:prstGeom>
          <a:solidFill>
            <a:srgbClr val="1DA7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268833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57784" y="3145536"/>
            <a:ext cx="14813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Забирает за ночь клиентов, платежи, абонементы и занятия.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48840" y="184708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148840" y="2258568"/>
            <a:ext cx="274320" cy="274320"/>
          </a:xfrm>
          <a:prstGeom prst="ellipse">
            <a:avLst/>
          </a:prstGeom>
          <a:solidFill>
            <a:srgbClr val="1DA7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268833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на смену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148840" y="3145536"/>
            <a:ext cx="14813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Каждому админу порция до нормы 40–45. Добор, а не «плюс сорок сверху».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39896" y="184708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739896" y="2258568"/>
            <a:ext cx="274320" cy="274320"/>
          </a:xfrm>
          <a:prstGeom prst="ellipse">
            <a:avLst/>
          </a:prstGeom>
          <a:solidFill>
            <a:srgbClr val="1DA7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9896" y="268833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денег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739896" y="3145536"/>
            <a:ext cx="14813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Вчерашние оплаты без подписи менеджера, возвраты, скидки вне тарифа.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30952" y="184708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09:30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330952" y="2258568"/>
            <a:ext cx="274320" cy="274320"/>
          </a:xfrm>
          <a:prstGeom prst="ellipse">
            <a:avLst/>
          </a:prstGeom>
          <a:solidFill>
            <a:srgbClr val="1DA7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0952" y="268833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посещения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30952" y="3145536"/>
            <a:ext cx="14813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Девять проверок: заморозки, отработки, скидки.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22008" y="184708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09:50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22008" y="2258568"/>
            <a:ext cx="274320" cy="274320"/>
          </a:xfrm>
          <a:prstGeom prst="ellipse">
            <a:avLst/>
          </a:prstGeom>
          <a:solidFill>
            <a:srgbClr val="1DA7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22008" y="268833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групп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22008" y="3145536"/>
            <a:ext cx="14813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Возраст, два уровня предмета, перебор мест — и покрытие проверки.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513064" y="184708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19:00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513064" y="2258568"/>
            <a:ext cx="274320" cy="274320"/>
          </a:xfrm>
          <a:prstGeom prst="ellipse">
            <a:avLst/>
          </a:prstGeom>
          <a:solidFill>
            <a:srgbClr val="1DA7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13064" y="268833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 за день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13064" y="3145536"/>
            <a:ext cx="14813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не двигал задачи и что закрыто без результата.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104120" y="184708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20:00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104120" y="2258568"/>
            <a:ext cx="274320" cy="274320"/>
          </a:xfrm>
          <a:prstGeom prst="ellipse">
            <a:avLst/>
          </a:prstGeom>
          <a:solidFill>
            <a:srgbClr val="1DA7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04120" y="268833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Вечерняя сводка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104120" y="3145536"/>
            <a:ext cx="14813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Звонки по админам, записи за день, недозвоны — владельцу.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7784" y="4498848"/>
            <a:ext cx="11064240" cy="1481328"/>
          </a:xfrm>
          <a:prstGeom prst="roundRect">
            <a:avLst>
              <a:gd name="adj" fmla="val 6173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8680" y="46817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этими часами — непрерывный контур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68680" y="5084064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каждые 3 минуты
</a:t>
            </a:r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заявка → срочная задача «позвонить за 5 минут»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538728" y="5084064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каждые 10 минут
</a:t>
            </a:r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просрочки и эскалация по SLA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08776" y="5084064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каждые 15 минут
</a:t>
            </a:r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 без ответа 45 минут и пропущенные звонки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878824" y="5084064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каждые 30 минут
</a:t>
            </a:r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сторож мессенджеров: жив ли вебхук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03504" cy="603504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РАЗГОВОРЫ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Слушает звонки и превращает их в задачи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103120" cy="2212848"/>
          </a:xfrm>
          <a:prstGeom prst="roundRect">
            <a:avLst>
              <a:gd name="adj" fmla="val 4348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1581912"/>
            <a:ext cx="384048" cy="38404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" y="204825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Выгрузка из АТС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7512" y="237744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в час забирает журнал и записи длиннее 10 секунд. Добавочные чужого центра в том же здании отсекаются на входе.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70632" y="1417320"/>
            <a:ext cx="2103120" cy="2212848"/>
          </a:xfrm>
          <a:prstGeom prst="roundRect">
            <a:avLst>
              <a:gd name="adj" fmla="val 4348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35224" y="1581912"/>
            <a:ext cx="384048" cy="38404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13" name="Text 11"/>
          <p:cNvSpPr/>
          <p:nvPr/>
        </p:nvSpPr>
        <p:spPr>
          <a:xfrm>
            <a:off x="2935224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35224" y="204825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Расшифровка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35224" y="237744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речи на своём железе, русский язык. Разговоры родителей никуда не уходят.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38344" y="1417320"/>
            <a:ext cx="2103120" cy="2212848"/>
          </a:xfrm>
          <a:prstGeom prst="roundRect">
            <a:avLst>
              <a:gd name="adj" fmla="val 4348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02936" y="1581912"/>
            <a:ext cx="384048" cy="38404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18" name="Text 16"/>
          <p:cNvSpPr/>
          <p:nvPr/>
        </p:nvSpPr>
        <p:spPr>
          <a:xfrm>
            <a:off x="5202936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02936" y="204825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02936" y="237744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Обещания и сроки, балл 0–8 по восьми пунктам скрипта, одиннадцать стоп-слов антифрода.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06056" y="1417320"/>
            <a:ext cx="2103120" cy="2212848"/>
          </a:xfrm>
          <a:prstGeom prst="roundRect">
            <a:avLst>
              <a:gd name="adj" fmla="val 4348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70648" y="1581912"/>
            <a:ext cx="384048" cy="38404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23" name="Text 21"/>
          <p:cNvSpPr/>
          <p:nvPr/>
        </p:nvSpPr>
        <p:spPr>
          <a:xfrm>
            <a:off x="7470648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70648" y="204825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в CRM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70648" y="237744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Комментарий в карточку клиента и отдельная задача на каждое произнесённое обещание.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573768" y="1417320"/>
            <a:ext cx="2103120" cy="2212848"/>
          </a:xfrm>
          <a:prstGeom prst="roundRect">
            <a:avLst>
              <a:gd name="adj" fmla="val 4348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38360" y="1581912"/>
            <a:ext cx="384048" cy="38404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28" name="Text 26"/>
          <p:cNvSpPr/>
          <p:nvPr/>
        </p:nvSpPr>
        <p:spPr>
          <a:xfrm>
            <a:off x="973836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38360" y="204825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738360" y="237744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Расшифровка ложится в таблицу: по ней можно искать задним числом и считать качество.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3858768"/>
            <a:ext cx="3602736" cy="1005840"/>
          </a:xfrm>
          <a:prstGeom prst="roundRect">
            <a:avLst>
              <a:gd name="adj" fmla="val 9091"/>
            </a:avLst>
          </a:prstGeom>
          <a:solidFill>
            <a:srgbClr val="F2F2F6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5800" y="3950208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Строки ≠ звонки  </a:t>
            </a:r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АТС раскладывает один входящий по добавочным. 17.08 два номера дали 594 строки из 617.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288536" y="3858768"/>
            <a:ext cx="3602736" cy="1005840"/>
          </a:xfrm>
          <a:prstGeom prst="roundRect">
            <a:avLst>
              <a:gd name="adj" fmla="val 9091"/>
            </a:avLst>
          </a:prstGeom>
          <a:solidFill>
            <a:srgbClr val="F2F2F6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471416" y="3950208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засчитать разговор  </a:t>
            </a:r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Решает график смен, а не карта аппаратов: если на смене один человек — все добавочные его.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74152" y="3858768"/>
            <a:ext cx="3602736" cy="1005840"/>
          </a:xfrm>
          <a:prstGeom prst="roundRect">
            <a:avLst>
              <a:gd name="adj" fmla="val 9091"/>
            </a:avLst>
          </a:prstGeom>
          <a:solidFill>
            <a:srgbClr val="F2F2F6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257032" y="3950208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не слышим  </a:t>
            </a:r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Звонков с личных мобильных в АТС просто нет. И разговоров в центре лицом к лицу — тоже.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02920" y="5074920"/>
            <a:ext cx="11183112" cy="1207008"/>
          </a:xfrm>
          <a:prstGeom prst="roundRect">
            <a:avLst>
              <a:gd name="adj" fmla="val 7576"/>
            </a:avLst>
          </a:prstGeom>
          <a:solidFill>
            <a:srgbClr val="312783"/>
          </a:solidFill>
          <a:ln/>
          <a:effectLst>
            <a:outerShdw sx="100000" sy="100000" kx="0" ky="0" algn="bl" rotWithShape="0" blurRad="177800" dist="38100" dir="5400000">
              <a:srgbClr val="0D093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22960" y="5166360"/>
            <a:ext cx="10543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Разбирается каждый разговор длиннее 10 секунд. </a:t>
            </a:r>
            <a:pPr indent="0" marL="0">
              <a:buNone/>
            </a:pPr>
            <a:r>
              <a:rPr lang="en-US" sz="1300" dirty="0">
                <a:solidFill>
                  <a:srgbClr val="CC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Дневной объём по журналу АТС — 46–51 набор и 21–28 разговоров на администратора. Сводка отдельно считает «не взяли трубку», «взяли и бросили за 10 секунд» и «состоявшийся разговор»: это три разных проблемы.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03504" cy="603504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 ДЛЯ ЗВОНКА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и та же задача: было и стало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532120" cy="3246120"/>
          </a:xfrm>
          <a:prstGeom prst="roundRect">
            <a:avLst>
              <a:gd name="adj" fmla="val 2817"/>
            </a:avLst>
          </a:prstGeom>
          <a:solidFill>
            <a:srgbClr val="F2F2F6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4592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7B779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139696"/>
            <a:ext cx="49834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1396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Обзвон набора 2026/27: открой карточку, прочитай подсказку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2542032"/>
            <a:ext cx="49834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5420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Обзвон набора 2026/27: открой карточку, прочитай подсказку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2944368"/>
            <a:ext cx="49834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9443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Обзвон набора 2026/27: открой карточку, прочитай подсказку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3346704"/>
            <a:ext cx="49834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34670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Обзвон набора 2026/27: открой карточку, прочитай подсказку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749040"/>
            <a:ext cx="49834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7490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Обзвон набора 2026/27: открой карточку, прочитай подсказку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187952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одинаковых строк. Кому звонить и с чем — админ каждый раз выяснял сам, открывая карточку.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53912" y="1417320"/>
            <a:ext cx="5532120" cy="3246120"/>
          </a:xfrm>
          <a:prstGeom prst="roundRect">
            <a:avLst>
              <a:gd name="adj" fmla="val 2817"/>
            </a:avLst>
          </a:prstGeom>
          <a:solidFill>
            <a:srgbClr val="F0F7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28232" y="164592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7DB928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1645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28232" y="2139696"/>
            <a:ext cx="498348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5875">
            <a:solidFill>
              <a:srgbClr val="7DB9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2231136"/>
            <a:ext cx="46360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Тучин Марк, 5 л., ходил на подготовку к школе до мая. Предложить: ПкШ + гарантия чтения. Ни разу не звонили. Зови на 29–30.08 и Неделю уроков 31.08–06.09.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28232" y="3785616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Аргумент, а не только факты: факты сами по себе не продают.</a:t>
            </a:r>
            <a:endParaRPr lang="en-US" sz="10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Иерархия: что предложить в первую очередь, а что — вторым предметом.</a:t>
            </a:r>
            <a:endParaRPr lang="en-US" sz="10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 подобран с учётом того, что ребёнок за год вырос.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919472"/>
            <a:ext cx="11183112" cy="1371600"/>
          </a:xfrm>
          <a:prstGeom prst="roundRect">
            <a:avLst>
              <a:gd name="adj" fmla="val 6667"/>
            </a:avLst>
          </a:prstGeom>
          <a:solidFill>
            <a:srgbClr val="FEF4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5047488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127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«Полминуты на звонок и тридцать секунд сомнений — а звонков сорок за смену»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2960" y="55778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правда: в теле задачи помещается 250 символов, в комментарии-подсказке — 995. Полторы тысячи символов система уже не принимает.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03504" cy="603504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В ЗАДАЧАХ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задач разобраны по одной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6035040" cy="420624"/>
          </a:xfrm>
          <a:prstGeom prst="rect">
            <a:avLst/>
          </a:prstGeom>
          <a:solidFill>
            <a:srgbClr val="312783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81328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97480" y="148132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86200" y="148132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74920" y="148132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901952"/>
            <a:ext cx="6035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901952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Ирина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19019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7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86200" y="19019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1901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B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−135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304288"/>
            <a:ext cx="6035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30428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Анна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97480" y="230428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7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86200" y="230428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230428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B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−145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2706624"/>
            <a:ext cx="6035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270662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Елена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97480" y="270662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7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86200" y="270662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270662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B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−67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3108960"/>
            <a:ext cx="6035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310896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Елизавета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97480" y="31089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7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86200" y="31089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74920" y="310896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B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−82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" y="3511296"/>
            <a:ext cx="6035040" cy="402336"/>
          </a:xfrm>
          <a:prstGeom prst="rect">
            <a:avLst/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351129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Всего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697480" y="3511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7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86200" y="3511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74920" y="351129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B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−429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" y="4224528"/>
            <a:ext cx="6035040" cy="1261872"/>
          </a:xfrm>
          <a:prstGeom prst="roundRect">
            <a:avLst>
              <a:gd name="adj" fmla="val 7246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31520" y="4334256"/>
            <a:ext cx="55778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принимается по клиенту, а не по задаче.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любым движением собирается карточка, восемь последних комментариев, журнал АТС за 12 дней, переписка и все другие открытые задачи по этому же человеку. Пять исходов: закрыть · срок · ждём · передать · оставить.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2920" y="5577840"/>
            <a:ext cx="6035040" cy="713232"/>
          </a:xfrm>
          <a:prstGeom prst="roundRect">
            <a:avLst>
              <a:gd name="adj" fmla="val 12821"/>
            </a:avLst>
          </a:prstGeom>
          <a:solidFill>
            <a:srgbClr val="FEF4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31520" y="5577840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 40 задач взята не с потолка: по журналу АТС админ набирает 46–51 раз и ведёт 21–28 разговоров за день.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20840" y="1481328"/>
            <a:ext cx="4965192" cy="1755648"/>
          </a:xfrm>
          <a:prstGeom prst="roundRect">
            <a:avLst>
              <a:gd name="adj" fmla="val 5208"/>
            </a:avLst>
          </a:prstGeom>
          <a:solidFill>
            <a:srgbClr val="F0F7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949440" y="1572768"/>
            <a:ext cx="4507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B7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208</a:t>
            </a:r>
            <a:pPr indent="0" marL="0">
              <a:buNone/>
            </a:pPr>
            <a:r>
              <a:rPr lang="en-US" sz="3000" dirty="0">
                <a:solidFill>
                  <a:srgbClr val="4541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6000" b="1" dirty="0">
                <a:solidFill>
                  <a:srgbClr val="7DB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4400" dirty="0"/>
          </a:p>
        </p:txBody>
      </p:sp>
      <p:sp>
        <p:nvSpPr>
          <p:cNvPr id="42" name="Text 40"/>
          <p:cNvSpPr/>
          <p:nvPr/>
        </p:nvSpPr>
        <p:spPr>
          <a:xfrm>
            <a:off x="6949440" y="2578608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столько задач в списке у одного администратора сегодня — вместо неподъёмных двухсот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720840" y="3383280"/>
            <a:ext cx="2395728" cy="932688"/>
          </a:xfrm>
          <a:prstGeom prst="roundRect">
            <a:avLst>
              <a:gd name="adj" fmla="val 9804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885432" y="3529584"/>
            <a:ext cx="2066544" cy="429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6885432" y="3995196"/>
            <a:ext cx="2066544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 разобрано вручную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290304" y="3383280"/>
            <a:ext cx="2395728" cy="932688"/>
          </a:xfrm>
          <a:prstGeom prst="roundRect">
            <a:avLst>
              <a:gd name="adj" fmla="val 9804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454896" y="3529584"/>
            <a:ext cx="2066544" cy="429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412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9454896" y="3995196"/>
            <a:ext cx="2066544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клиентов затронуто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720840" y="4425696"/>
            <a:ext cx="2395728" cy="932688"/>
          </a:xfrm>
          <a:prstGeom prst="roundRect">
            <a:avLst>
              <a:gd name="adj" fmla="val 9804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885432" y="4572000"/>
            <a:ext cx="2066544" cy="429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</a:t>
            </a:r>
            <a:endParaRPr lang="en-US" sz="3200" dirty="0"/>
          </a:p>
        </p:txBody>
      </p:sp>
      <p:sp>
        <p:nvSpPr>
          <p:cNvPr id="51" name="Text 49"/>
          <p:cNvSpPr/>
          <p:nvPr/>
        </p:nvSpPr>
        <p:spPr>
          <a:xfrm>
            <a:off x="6885432" y="5037612"/>
            <a:ext cx="2066544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закрыто — дел не было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290304" y="4425696"/>
            <a:ext cx="2395728" cy="932688"/>
          </a:xfrm>
          <a:prstGeom prst="roundRect">
            <a:avLst>
              <a:gd name="adj" fmla="val 9804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9454896" y="4572000"/>
            <a:ext cx="2066544" cy="429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542</a:t>
            </a:r>
            <a:endParaRPr lang="en-US" sz="3200" dirty="0"/>
          </a:p>
        </p:txBody>
      </p:sp>
      <p:sp>
        <p:nvSpPr>
          <p:cNvPr id="54" name="Text 52"/>
          <p:cNvSpPr/>
          <p:nvPr/>
        </p:nvSpPr>
        <p:spPr>
          <a:xfrm>
            <a:off x="9454896" y="5037612"/>
            <a:ext cx="2066544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разложено по дням смен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720840" y="5468112"/>
            <a:ext cx="4965192" cy="822960"/>
          </a:xfrm>
          <a:prstGeom prst="roundRect">
            <a:avLst>
              <a:gd name="adj" fmla="val 11111"/>
            </a:avLst>
          </a:prstGeom>
          <a:solidFill>
            <a:srgbClr val="FEF4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931152" y="5468112"/>
            <a:ext cx="4544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 задач под статусом «архив набора» намеренно не закрыты: под ним лежит тёплая база прошлого года, её сейчас обзванивают.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03504" cy="603504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Считает то, что раньше не считал никто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593592" cy="1874520"/>
          </a:xfrm>
          <a:prstGeom prst="roundRect">
            <a:avLst>
              <a:gd name="adj" fmla="val 4878"/>
            </a:avLst>
          </a:prstGeom>
          <a:solidFill>
            <a:srgbClr val="FEF4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554480"/>
            <a:ext cx="31912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510 920 ₽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04088" y="2377440"/>
            <a:ext cx="31912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августовских оплат прошли без подписи менеджера — 38 приходов из 77, почти половина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593592" cy="1874520"/>
          </a:xfrm>
          <a:prstGeom prst="roundRect">
            <a:avLst>
              <a:gd name="adj" fmla="val 4878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98848" y="1554480"/>
            <a:ext cx="31912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486 118 ₽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498848" y="2377440"/>
            <a:ext cx="31912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счёт с долгом с учётом старых лет. Актуальных долгов 2026 года — около 160 000 ₽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593592" cy="1874520"/>
          </a:xfrm>
          <a:prstGeom prst="roundRect">
            <a:avLst>
              <a:gd name="adj" fmla="val 4878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93608" y="1554480"/>
            <a:ext cx="31912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271 855 ₽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93608" y="2377440"/>
            <a:ext cx="31912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возвратов с 1 июня. У девяти из десяти причина не указана вообще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493008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 разложен на четыре кучи — иначе «полмиллиона в минусе» не значит ничего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877056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7DB928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" y="39684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DB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7512" y="424281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клиент, нужен звонок и счёт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3877056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DA7E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02152" y="39684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РАЗОБРАТЬ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02152" y="424281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история: что было на самом деле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3877056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F59C0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36792" y="39684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9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СПИСАТЬ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36792" y="424281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227 425 ₽ готовы к решению — подпись владельца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06840" y="3877056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7B7796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71432" y="39684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71432" y="424281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ввода, деньги никто не должен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5102352"/>
            <a:ext cx="11183112" cy="1188720"/>
          </a:xfrm>
          <a:prstGeom prst="roundRect">
            <a:avLst>
              <a:gd name="adj" fmla="val 7692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521208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Возвраты разобраны поимённо: </a:t>
            </a:r>
            <a:pPr indent="0" marL="0">
              <a:buNone/>
            </a:pPr>
            <a:r>
              <a:rPr lang="en-US" sz="12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280 075 ₽ — 44 625 ₽ это механика материнского капитала (не отток вообще), 49 510 ₽ — здоровье и травмы. Настоящих недовольных оказалось двое, на 63 040 ₽.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77240" y="5687568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Ежедневно в 09:40: неоплаченные абонементы, минусовые балансы, бесплатные отметки, несписанные пропуски, посещения без счёта.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03504" cy="603504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Находка возвращается тому, кто её сделал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120640" cy="3913632"/>
          </a:xfrm>
          <a:prstGeom prst="roundRect">
            <a:avLst>
              <a:gd name="adj" fmla="val 2336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910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Девять проверок правил посещения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5528" y="2071116"/>
            <a:ext cx="201168" cy="20116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0711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5568" y="1993392"/>
            <a:ext cx="4297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заморозка мимо системы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" y="2427732"/>
            <a:ext cx="201168" cy="20116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4277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15568" y="2350008"/>
            <a:ext cx="4297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заморозка сверх 14 дней за год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" y="2784348"/>
            <a:ext cx="201168" cy="20116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27843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5568" y="2706624"/>
            <a:ext cx="4297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заморозка задним числом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" y="3140964"/>
            <a:ext cx="201168" cy="20116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31409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5568" y="3063240"/>
            <a:ext cx="4297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отработка позже 31 дня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" y="3497580"/>
            <a:ext cx="201168" cy="20116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34975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5568" y="3419856"/>
            <a:ext cx="4297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повторная отработка одного пропуска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5528" y="3854196"/>
            <a:ext cx="201168" cy="20116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" y="38541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15568" y="3776472"/>
            <a:ext cx="4297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отработка без предварительной записи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5528" y="4210812"/>
            <a:ext cx="201168" cy="20116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" y="42108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5568" y="4133088"/>
            <a:ext cx="4297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скидка больше 10% без причины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5528" y="4567428"/>
            <a:ext cx="201168" cy="20116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" y="45674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15568" y="4489704"/>
            <a:ext cx="4297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скидки на одном абонементе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5528" y="4924044"/>
            <a:ext cx="201168" cy="201168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33" name="Text 31"/>
          <p:cNvSpPr/>
          <p:nvPr/>
        </p:nvSpPr>
        <p:spPr>
          <a:xfrm>
            <a:off x="795528" y="49240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15568" y="4846320"/>
            <a:ext cx="4297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50% без непрерывности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788152" y="1417320"/>
            <a:ext cx="589788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71032" y="1417320"/>
            <a:ext cx="1554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2 622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571232" y="1472184"/>
            <a:ext cx="3950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абонемента за учебный год 2025/26 — первая сплошная сверка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788152" y="2423160"/>
            <a:ext cx="589788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971032" y="2423160"/>
            <a:ext cx="1554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30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571232" y="2478024"/>
            <a:ext cx="3950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заморозок оформлено полями системы. Все тридцать живут текстом в комментарии — «две недели за год» посчитать нельзя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788152" y="3429000"/>
            <a:ext cx="589788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971032" y="3429000"/>
            <a:ext cx="1554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 / 105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571232" y="3483864"/>
            <a:ext cx="3950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абонементов продано дешевле чем −10%, и у 105 из них в комментарии нет ни слова о причине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788152" y="4434840"/>
            <a:ext cx="589788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971032" y="4434840"/>
            <a:ext cx="1554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A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431 / 53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571232" y="4489704"/>
            <a:ext cx="3950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отработок, из них 53 закрыты позже месяца — одна аж через 92 дня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02920" y="5513832"/>
            <a:ext cx="11183112" cy="822960"/>
          </a:xfrm>
          <a:prstGeom prst="roundRect">
            <a:avLst>
              <a:gd name="adj" fmla="val 11111"/>
            </a:avLst>
          </a:prstGeom>
          <a:solidFill>
            <a:srgbClr val="312783"/>
          </a:solidFill>
          <a:ln/>
          <a:effectLst>
            <a:outerShdw sx="100000" sy="100000" kx="0" ky="0" algn="bl" rotWithShape="0" blurRad="177800" dist="38100" dir="5400000">
              <a:srgbClr val="0D0930">
                <a:alpha val="3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22960" y="551383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уходит автору ошибки, а не «команде».  </a:t>
            </a:r>
            <a:pPr algn="ctr" indent="0" marL="0">
              <a:buNone/>
            </a:pPr>
            <a:r>
              <a:rPr lang="en-US" sz="1300" dirty="0">
                <a:solidFill>
                  <a:srgbClr val="CC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флаги ставятся только на события с 20 августа: задним числом никого не судим, история идёт отдельной справкой.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03504" cy="603504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ЗНАНИЯ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 методички и регламенты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312783"/>
          </a:solidFill>
          <a:ln/>
          <a:effectLst>
            <a:outerShdw sx="100000" sy="100000" kx="0" ky="0" algn="bl" rotWithShape="0" blurRad="177800" dist="38100" dir="5400000">
              <a:srgbClr val="0D093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5544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31520" y="276148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FD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методички и регламента в общей базе знаний — написаны с нуля и обновляются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950208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" y="4096512"/>
            <a:ext cx="2962656" cy="4837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DA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67512" y="4616806"/>
            <a:ext cx="296265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рабочих страниц портала для команды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5193792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F0F7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" y="5340096"/>
            <a:ext cx="2962656" cy="4837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7DB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+ 46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67512" y="5860390"/>
            <a:ext cx="296265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книг и файлов курсов разобрано в исходниках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977640" y="1417320"/>
            <a:ext cx="2459736" cy="1417320"/>
          </a:xfrm>
          <a:prstGeom prst="roundRect">
            <a:avLst>
              <a:gd name="adj" fmla="val 6452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581912"/>
            <a:ext cx="274320" cy="347472"/>
          </a:xfrm>
          <a:prstGeom prst="roundRect">
            <a:avLst>
              <a:gd name="adj" fmla="val 13333"/>
            </a:avLst>
          </a:prstGeom>
          <a:solidFill>
            <a:srgbClr val="1DA7E0"/>
          </a:solidFill>
          <a:ln/>
        </p:spPr>
      </p:sp>
      <p:sp>
        <p:nvSpPr>
          <p:cNvPr id="17" name="Text 15"/>
          <p:cNvSpPr/>
          <p:nvPr/>
        </p:nvSpPr>
        <p:spPr>
          <a:xfrm>
            <a:off x="4544568" y="154533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Методичка администратора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60520" y="2020824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КБ — от приветствия до закрытия смены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01968" y="1417320"/>
            <a:ext cx="2459736" cy="1417320"/>
          </a:xfrm>
          <a:prstGeom prst="roundRect">
            <a:avLst>
              <a:gd name="adj" fmla="val 6452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84848" y="1581912"/>
            <a:ext cx="274320" cy="347472"/>
          </a:xfrm>
          <a:prstGeom prst="roundRect">
            <a:avLst>
              <a:gd name="adj" fmla="val 13333"/>
            </a:avLst>
          </a:prstGeom>
          <a:solidFill>
            <a:srgbClr val="1DA7E0"/>
          </a:solidFill>
          <a:ln/>
        </p:spPr>
      </p:sp>
      <p:sp>
        <p:nvSpPr>
          <p:cNvPr id="21" name="Text 19"/>
          <p:cNvSpPr/>
          <p:nvPr/>
        </p:nvSpPr>
        <p:spPr>
          <a:xfrm>
            <a:off x="7168896" y="154533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Скрипты разговоров v3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84848" y="2020824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КБ — на входящий, на исходящий, на возражение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226296" y="1417320"/>
            <a:ext cx="2459736" cy="1417320"/>
          </a:xfrm>
          <a:prstGeom prst="roundRect">
            <a:avLst>
              <a:gd name="adj" fmla="val 6452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409176" y="1581912"/>
            <a:ext cx="274320" cy="347472"/>
          </a:xfrm>
          <a:prstGeom prst="roundRect">
            <a:avLst>
              <a:gd name="adj" fmla="val 13333"/>
            </a:avLst>
          </a:prstGeom>
          <a:solidFill>
            <a:srgbClr val="1DA7E0"/>
          </a:solidFill>
          <a:ln/>
        </p:spPr>
      </p:sp>
      <p:sp>
        <p:nvSpPr>
          <p:cNvPr id="25" name="Text 23"/>
          <p:cNvSpPr/>
          <p:nvPr/>
        </p:nvSpPr>
        <p:spPr>
          <a:xfrm>
            <a:off x="9793224" y="154533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Ресепшен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409176" y="2020824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КБ — как встречают ребёнка и родителя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977640" y="2999232"/>
            <a:ext cx="2459736" cy="1417320"/>
          </a:xfrm>
          <a:prstGeom prst="roundRect">
            <a:avLst>
              <a:gd name="adj" fmla="val 6452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60520" y="3163824"/>
            <a:ext cx="274320" cy="347472"/>
          </a:xfrm>
          <a:prstGeom prst="roundRect">
            <a:avLst>
              <a:gd name="adj" fmla="val 13333"/>
            </a:avLst>
          </a:prstGeom>
          <a:solidFill>
            <a:srgbClr val="1DA7E0"/>
          </a:solidFill>
          <a:ln/>
        </p:spPr>
      </p:sp>
      <p:sp>
        <p:nvSpPr>
          <p:cNvPr id="29" name="Text 27"/>
          <p:cNvSpPr/>
          <p:nvPr/>
        </p:nvSpPr>
        <p:spPr>
          <a:xfrm>
            <a:off x="4544568" y="31272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прибыли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160520" y="3602736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КБ — откуда берутся деньги центра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601968" y="2999232"/>
            <a:ext cx="2459736" cy="1417320"/>
          </a:xfrm>
          <a:prstGeom prst="roundRect">
            <a:avLst>
              <a:gd name="adj" fmla="val 6452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84848" y="3163824"/>
            <a:ext cx="274320" cy="347472"/>
          </a:xfrm>
          <a:prstGeom prst="roundRect">
            <a:avLst>
              <a:gd name="adj" fmla="val 13333"/>
            </a:avLst>
          </a:prstGeom>
          <a:solidFill>
            <a:srgbClr val="1DA7E0"/>
          </a:solidFill>
          <a:ln/>
        </p:spPr>
      </p:sp>
      <p:sp>
        <p:nvSpPr>
          <p:cNvPr id="33" name="Text 31"/>
          <p:cNvSpPr/>
          <p:nvPr/>
        </p:nvSpPr>
        <p:spPr>
          <a:xfrm>
            <a:off x="7168896" y="31272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посещения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784848" y="3602736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заморозки, отработки, скидки — приняты 20.08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226296" y="2999232"/>
            <a:ext cx="2459736" cy="1417320"/>
          </a:xfrm>
          <a:prstGeom prst="roundRect">
            <a:avLst>
              <a:gd name="adj" fmla="val 6452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409176" y="3163824"/>
            <a:ext cx="274320" cy="347472"/>
          </a:xfrm>
          <a:prstGeom prst="roundRect">
            <a:avLst>
              <a:gd name="adj" fmla="val 13333"/>
            </a:avLst>
          </a:prstGeom>
          <a:solidFill>
            <a:srgbClr val="1DA7E0"/>
          </a:solidFill>
          <a:ln/>
        </p:spPr>
      </p:sp>
      <p:sp>
        <p:nvSpPr>
          <p:cNvPr id="37" name="Text 35"/>
          <p:cNvSpPr/>
          <p:nvPr/>
        </p:nvSpPr>
        <p:spPr>
          <a:xfrm>
            <a:off x="9793224" y="31272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Девять шагов педагога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409176" y="3602736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проходит пробное занятие, по шагам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977640" y="4581144"/>
            <a:ext cx="7708392" cy="1664208"/>
          </a:xfrm>
          <a:prstGeom prst="roundRect">
            <a:avLst>
              <a:gd name="adj" fmla="val 5495"/>
            </a:avLst>
          </a:prstGeom>
          <a:solidFill>
            <a:srgbClr val="FEF4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224528" y="4709160"/>
            <a:ext cx="721461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Шпаргалка по предметам, лист обзвона на 74 КБ, бланки диагностики, брифы администраторов.
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пишется из живых данных, а не из головы: цены, расписание и свободные места берутся из CRM в момент написания. Это же и защита — методичка не может пообещать родителю то, чего в центре нет.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03504" cy="603504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ЖИВЫЕ ПРИМЕРЫ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историй, которые нашлись за неделю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593592" cy="2212848"/>
          </a:xfrm>
          <a:prstGeom prst="roundRect">
            <a:avLst>
              <a:gd name="adj" fmla="val 4132"/>
            </a:avLst>
          </a:prstGeom>
          <a:solidFill>
            <a:srgbClr val="FEF4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536192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11 000 ₽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04088" y="201168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ждали два дня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2322576"/>
            <a:ext cx="3191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9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написал «готова оплатить» 17 августа. Ответа не было второй день. Всего таких денежных вопросов без движения нашлось девять, самому старому — пять дней.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417320"/>
            <a:ext cx="3593592" cy="2212848"/>
          </a:xfrm>
          <a:prstGeom prst="roundRect">
            <a:avLst>
              <a:gd name="adj" fmla="val 4132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98848" y="1536192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детей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98848" y="201168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записаны, но не в группе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98848" y="2322576"/>
            <a:ext cx="3191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9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«записался на пробное» стоит, а записи в группу нет. Педагог такого ребёнка не ждёт, в списке группы его не будет. Такие дети теряются молча.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2440" y="1417320"/>
            <a:ext cx="3593592" cy="2212848"/>
          </a:xfrm>
          <a:prstGeom prst="roundRect">
            <a:avLst>
              <a:gd name="adj" fmla="val 4132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93608" y="1536192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7 800 ₽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93608" y="201168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молчание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93608" y="2322576"/>
            <a:ext cx="3191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9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Тринадцать промо-контактов по 600 ₽ так и остались непрозвонёнными. 41% контактов промоутеров — недозвон, а в тот же день пять входящих из шестнадцати остались без ответа.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5486400" cy="2212848"/>
          </a:xfrm>
          <a:prstGeom prst="roundRect">
            <a:avLst>
              <a:gd name="adj" fmla="val 4132"/>
            </a:avLst>
          </a:prstGeom>
          <a:solidFill>
            <a:srgbClr val="F2F2F6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" y="413308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1 844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697480" y="4133088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затёрты одной операцией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22376" y="4754880"/>
            <a:ext cx="5047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августа массовая смена статусов снесла телефоны, родителей и историю у 1 844 карточек. Восстановили. Теперь единственный разрешённый способ правки — сначала прочитать карточку, наложить изменения и отправить целиком.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9632" y="3840480"/>
            <a:ext cx="5486400" cy="2212848"/>
          </a:xfrm>
          <a:prstGeom prst="roundRect">
            <a:avLst>
              <a:gd name="adj" fmla="val 4132"/>
            </a:avLst>
          </a:prstGeom>
          <a:solidFill>
            <a:srgbClr val="F2F2F6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19088" y="413308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часов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394192" y="4133088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невидимой переписки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19088" y="4754880"/>
            <a:ext cx="5047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молча перезаписала адрес вебхука мессенджеров: события пропали в 13:02 и не приходили двадцать часов. Заметили только со слов админов. Теперь сторож проверяет каждые полчаса, чинит сам и пишет владельцу.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03504" cy="603504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дало в деньгах и часах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EF4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544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510 920 ₽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340864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 без подписи менеджера найдено и предъявлено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5544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486 118 ₽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20440" y="2340864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долгов собрано в один список и разложено по решениям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5544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2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55080" y="2340864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 разобрано вручную, 201 из них закрыта навсегда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06840" y="14173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0F7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89720" y="15544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DB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208 → 39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189720" y="2340864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задач одного администратора за одну неделю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429000"/>
            <a:ext cx="5486400" cy="1444752"/>
          </a:xfrm>
          <a:prstGeom prst="roundRect">
            <a:avLst>
              <a:gd name="adj" fmla="val 6329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9808" y="3547872"/>
            <a:ext cx="49926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Часы, которых больше не нужно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звонков, раскладка задач по сменам, сверка правил и вечерняя сводка делались бы руками. Один аудит денег и одна сводка — это час работы человека каждый день, семь дней в неделю.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99632" y="3429000"/>
            <a:ext cx="5486400" cy="1444752"/>
          </a:xfrm>
          <a:prstGeom prst="roundRect">
            <a:avLst>
              <a:gd name="adj" fmla="val 6329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3547872"/>
            <a:ext cx="49926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Гипотеза, а не факт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между 60% и 100% заполнения групп — около 8,7 млн ₽ за год, при фонде бонусов на сотню процентов в 200–230 тыс. ₽. Это расчёт сценариев, а не достигнутый результат.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5047488"/>
            <a:ext cx="11183112" cy="1243584"/>
          </a:xfrm>
          <a:prstGeom prst="roundRect">
            <a:avLst>
              <a:gd name="adj" fmla="val 7353"/>
            </a:avLst>
          </a:prstGeom>
          <a:solidFill>
            <a:srgbClr val="FEF4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5047488"/>
            <a:ext cx="105430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59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Честно: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41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запущена 19–21 августа 2026 года. Замера «до и после» по выручке и конверсии ещё нет — и я не буду его выдумывать со сцены. Всё, что выше, — либо факт на дату, либо прямой подсчёт по августовским приходам.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127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4572000" cy="4572000"/>
          </a:xfrm>
          <a:prstGeom prst="ellipse">
            <a:avLst/>
          </a:prstGeom>
          <a:solidFill>
            <a:srgbClr val="1DA7E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114800"/>
            <a:ext cx="3108960" cy="3108960"/>
          </a:xfrm>
          <a:prstGeom prst="ellipse">
            <a:avLst/>
          </a:prstGeom>
          <a:solidFill>
            <a:srgbClr val="7DB928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663440"/>
            <a:ext cx="2743200" cy="2743200"/>
          </a:xfrm>
          <a:prstGeom prst="ellipse">
            <a:avLst/>
          </a:prstGeom>
          <a:solidFill>
            <a:srgbClr val="F59C0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402336"/>
            <a:ext cx="603504" cy="603504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402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6187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FD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61872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ИИ-сотрудник не делает принципиально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572768"/>
            <a:ext cx="3593592" cy="2560320"/>
          </a:xfrm>
          <a:prstGeom prst="roundRect">
            <a:avLst>
              <a:gd name="adj" fmla="val 3571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1DA7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1783080"/>
            <a:ext cx="420624" cy="420624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" y="23042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отмечает посещения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" y="2889504"/>
            <a:ext cx="3154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C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«Отметка — это утверждение о физической реальности. Я её не вижу, а она списывает занятие с абонемента». В журнале 38 717 отметок: кто отметил — система не хранит вообще.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572768"/>
            <a:ext cx="3593592" cy="2560320"/>
          </a:xfrm>
          <a:prstGeom prst="roundRect">
            <a:avLst>
              <a:gd name="adj" fmla="val 3571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1DA7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7136" y="1783080"/>
            <a:ext cx="420624" cy="420624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6" name="Text 14"/>
          <p:cNvSpPr/>
          <p:nvPr/>
        </p:nvSpPr>
        <p:spPr>
          <a:xfrm>
            <a:off x="4517136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17136" y="23042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списывает долги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17136" y="2889504"/>
            <a:ext cx="3154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C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227 425 ₽ разложены, посчитаны и подготовлены к решению. Кнопку нажимает владелец. Прощение денег — это разговор с человеком, а не строчка в базе.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92440" y="1572768"/>
            <a:ext cx="3593592" cy="2560320"/>
          </a:xfrm>
          <a:prstGeom prst="roundRect">
            <a:avLst>
              <a:gd name="adj" fmla="val 3571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1DA7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11896" y="1783080"/>
            <a:ext cx="420624" cy="420624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8311896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1896" y="23042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трогает людей и чужие деньги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11896" y="2889504"/>
            <a:ext cx="3154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C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сотрудников, зарплаты, балансы клиентов — вне доступа. Телефонию тоже не настраивает: доступа нет, значит и разговора нет.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4434840"/>
            <a:ext cx="10177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«Граница проходит там, где действие нельзя проверить по данным. Всё, что за ней, остаётся за человеком — и это не ограничение, а условие доверия»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005840" y="576072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D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запретов мы написали раньше списка возможностей.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03504" cy="603504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ошибается — важно, что происходит дальше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532120" cy="1170432"/>
          </a:xfrm>
          <a:prstGeom prst="roundRect">
            <a:avLst>
              <a:gd name="adj" fmla="val 7813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1600200"/>
            <a:ext cx="310896" cy="310896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1545336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случилось · 20 августа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15568" y="1837944"/>
            <a:ext cx="4700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сравнивала оплату со средней ценой по названию курса. Под «Английский летний клуб» попали и полдня, и пять недель — суммы от 750 ₽ до 144 000 ₽, середина смеси — 33 400 ₽.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5532120" cy="1170432"/>
          </a:xfrm>
          <a:prstGeom prst="roundRect">
            <a:avLst>
              <a:gd name="adj" fmla="val 7813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" y="2880360"/>
            <a:ext cx="310896" cy="310896"/>
          </a:xfrm>
          <a:prstGeom prst="ellipse">
            <a:avLst/>
          </a:prstGeom>
          <a:solidFill>
            <a:srgbClr val="F59C00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825496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выглядело для команды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15568" y="3118104"/>
            <a:ext cx="4700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оплата за полдня, 11 000 ₽, получила ярлык «на 67% ниже обычной». Администратор ответила коротко: «мы уже все оплаты провели».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5532120" cy="1170432"/>
          </a:xfrm>
          <a:prstGeom prst="roundRect">
            <a:avLst>
              <a:gd name="adj" fmla="val 7813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" y="4160520"/>
            <a:ext cx="310896" cy="310896"/>
          </a:xfrm>
          <a:prstGeom prst="ellipse">
            <a:avLst/>
          </a:prstGeom>
          <a:solidFill>
            <a:srgbClr val="7DB928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4105656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изменено в тот же день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15568" y="4398264"/>
            <a:ext cx="4700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только по точно такому же комментарию, проверка однородности тарифа и требование ещё трёх похожих оплат рядом. Не уверены — молчим.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5257800"/>
            <a:ext cx="5532120" cy="1033272"/>
          </a:xfrm>
          <a:prstGeom prst="roundRect">
            <a:avLst>
              <a:gd name="adj" fmla="val 8850"/>
            </a:avLst>
          </a:prstGeom>
          <a:solidFill>
            <a:srgbClr val="FEF4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257800"/>
            <a:ext cx="50383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 извинился сам.  </a:t>
            </a:r>
            <a:pPr indent="0" marL="0"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Рассылка обратилась к родителям по фамилии ребёнка. Всем 74 адресатам первым в очереди ушло извинение — раньше любых акций.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9632" y="141732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312783"/>
          </a:solidFill>
          <a:ln/>
          <a:effectLst>
            <a:outerShdw sx="100000" sy="100000" kx="0" ky="0" algn="bl" rotWithShape="0" blurRad="177800" dist="38100" dir="5400000">
              <a:srgbClr val="0D093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46520" y="1417320"/>
            <a:ext cx="49926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«Ложный флаг хуже пропущенного: он приучает не читать ленту»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199632" y="3127248"/>
            <a:ext cx="5486400" cy="1078992"/>
          </a:xfrm>
          <a:prstGeom prst="roundRect">
            <a:avLst>
              <a:gd name="adj" fmla="val 8475"/>
            </a:avLst>
          </a:prstGeom>
          <a:solidFill>
            <a:srgbClr val="F2F2F6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3127248"/>
            <a:ext cx="49926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раскладка задач была неправильной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задача уехала не туда: разложил по тексту и категории, не заглянув в карточку клиента. Признано в документе, переделано по клиенту.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99632" y="4315968"/>
            <a:ext cx="5486400" cy="1078992"/>
          </a:xfrm>
          <a:prstGeom prst="roundRect">
            <a:avLst>
              <a:gd name="adj" fmla="val 8475"/>
            </a:avLst>
          </a:prstGeom>
          <a:solidFill>
            <a:srgbClr val="F2F2F6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46520" y="4315968"/>
            <a:ext cx="49926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Извинение внутри отчёта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три набора своей смены в решающую неделю потратила на тестовые номера, забытые в списке обзвона. Это моя ошибка, и она записана.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99632" y="5504688"/>
            <a:ext cx="5486400" cy="786384"/>
          </a:xfrm>
          <a:prstGeom prst="roundRect">
            <a:avLst>
              <a:gd name="adj" fmla="val 11628"/>
            </a:avLst>
          </a:prstGeom>
          <a:solidFill>
            <a:srgbClr val="F0F7E3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46520" y="5504688"/>
            <a:ext cx="49926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ошибка становится правилом в коде, а не темой для разговора.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03504" cy="603504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61872" y="310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начать у себя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3593592" cy="2212848"/>
          </a:xfrm>
          <a:prstGeom prst="roundRect">
            <a:avLst>
              <a:gd name="adj" fmla="val 4132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1664208"/>
            <a:ext cx="457200" cy="457200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" y="2212848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Начните с того, что болит и считается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" y="2816352"/>
            <a:ext cx="31912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«внедрить ИИ», а «мы не знаем, кто обещал маме перезвонить». Задача с числом решается; задача без числа обсуждается.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481328"/>
            <a:ext cx="3593592" cy="2212848"/>
          </a:xfrm>
          <a:prstGeom prst="roundRect">
            <a:avLst>
              <a:gd name="adj" fmla="val 4132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98848" y="1664208"/>
            <a:ext cx="457200" cy="457200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13" name="Text 11"/>
          <p:cNvSpPr/>
          <p:nvPr/>
        </p:nvSpPr>
        <p:spPr>
          <a:xfrm>
            <a:off x="449884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98848" y="2212848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Дайте доступ туда, где работают люди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98848" y="2816352"/>
            <a:ext cx="31912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телефония, мессенджеры. Читать — всё. Писать — узкий список: задачи, комментарии, статусы. Больше на старте не нужно.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92440" y="1481328"/>
            <a:ext cx="3593592" cy="2212848"/>
          </a:xfrm>
          <a:prstGeom prst="roundRect">
            <a:avLst>
              <a:gd name="adj" fmla="val 4132"/>
            </a:avLst>
          </a:prstGeom>
          <a:solidFill>
            <a:srgbClr val="F3F5FC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93608" y="1664208"/>
            <a:ext cx="457200" cy="457200"/>
          </a:xfrm>
          <a:prstGeom prst="ellipse">
            <a:avLst/>
          </a:prstGeom>
          <a:solidFill>
            <a:srgbClr val="312783"/>
          </a:solidFill>
          <a:ln/>
        </p:spPr>
      </p:sp>
      <p:sp>
        <p:nvSpPr>
          <p:cNvPr id="18" name="Text 16"/>
          <p:cNvSpPr/>
          <p:nvPr/>
        </p:nvSpPr>
        <p:spPr>
          <a:xfrm>
            <a:off x="829360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93608" y="2212848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Первое действие — задача, а не рассылка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08" y="2816352"/>
            <a:ext cx="31912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находка возвращается конкретному человеку по имени и со сроком. Находка «команде» не выполняется никем.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877056"/>
            <a:ext cx="3593592" cy="2212848"/>
          </a:xfrm>
          <a:prstGeom prst="roundRect">
            <a:avLst>
              <a:gd name="adj" fmla="val 4132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" y="4059936"/>
            <a:ext cx="457200" cy="457200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" y="4608576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Запретите заранее и письменно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" y="5212080"/>
            <a:ext cx="31912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Посещаемость, деньги клиентов, карточки сотрудников. Список запретов писать раньше списка возможностей.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3877056"/>
            <a:ext cx="3593592" cy="2212848"/>
          </a:xfrm>
          <a:prstGeom prst="roundRect">
            <a:avLst>
              <a:gd name="adj" fmla="val 4132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98848" y="4059936"/>
            <a:ext cx="457200" cy="457200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28" name="Text 26"/>
          <p:cNvSpPr/>
          <p:nvPr/>
        </p:nvSpPr>
        <p:spPr>
          <a:xfrm>
            <a:off x="4498848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98848" y="4608576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Считайте покрытие, а не только находки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98848" y="5212080"/>
            <a:ext cx="31912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«Проверили 32 из 56». Проверка, которая молчит, потому что ей нечего читать, опаснее отсутствующей: она даёт ложное спокойствие.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92440" y="3877056"/>
            <a:ext cx="3593592" cy="2212848"/>
          </a:xfrm>
          <a:prstGeom prst="roundRect">
            <a:avLst>
              <a:gd name="adj" fmla="val 4132"/>
            </a:avLst>
          </a:prstGeom>
          <a:solidFill>
            <a:srgbClr val="E9F5FD"/>
          </a:solidFill>
          <a:ln w="12700">
            <a:solidFill>
              <a:srgbClr val="DCE0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1547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93608" y="4059936"/>
            <a:ext cx="457200" cy="457200"/>
          </a:xfrm>
          <a:prstGeom prst="ellipse">
            <a:avLst/>
          </a:prstGeom>
          <a:solidFill>
            <a:srgbClr val="1DA7E0"/>
          </a:solidFill>
          <a:ln/>
        </p:spPr>
      </p:sp>
      <p:sp>
        <p:nvSpPr>
          <p:cNvPr id="33" name="Text 31"/>
          <p:cNvSpPr/>
          <p:nvPr/>
        </p:nvSpPr>
        <p:spPr>
          <a:xfrm>
            <a:off x="8293608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93608" y="4608576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312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Ошибку превращайте в правило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93608" y="5212080"/>
            <a:ext cx="31912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Разбирайте ложный флаг в тот же день и закрывайте его кодом. Иначе ленту находок просто перестанут открывать.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127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4572000" cy="4572000"/>
          </a:xfrm>
          <a:prstGeom prst="ellipse">
            <a:avLst/>
          </a:prstGeom>
          <a:solidFill>
            <a:srgbClr val="1DA7E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114800"/>
            <a:ext cx="3108960" cy="3108960"/>
          </a:xfrm>
          <a:prstGeom prst="ellipse">
            <a:avLst/>
          </a:prstGeom>
          <a:solidFill>
            <a:srgbClr val="7DB928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663440"/>
            <a:ext cx="2743200" cy="2743200"/>
          </a:xfrm>
          <a:prstGeom prst="ellipse">
            <a:avLst/>
          </a:prstGeom>
          <a:solidFill>
            <a:srgbClr val="F59C00">
              <a:alpha val="12000"/>
            </a:srgbClr>
          </a:solidFill>
          <a:ln/>
        </p:spPr>
      </p:sp>
      <p:pic>
        <p:nvPicPr>
          <p:cNvPr id="5" name="Image 0" descr="/home/user/kidsup/app/static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960120" cy="960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8961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9FD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KidsUP · МОСКВА, БУЛЬВАР РОКОССОВСКОГО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77240" y="1920240"/>
            <a:ext cx="10607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ИИ-сотрудник не заменяет администратора.</a:t>
            </a:r>
            <a:endParaRPr lang="en-US" sz="2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забирает у него память — и возвращает</a:t>
            </a:r>
            <a:endParaRPr lang="en-US" sz="2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на разговор с родителем.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804672" y="431596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C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показанное работает в одном центре: 398 мест, 93 группы, четыре администратора.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77240" y="5074920"/>
            <a:ext cx="347472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1DA7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50749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kidsup.ru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80560" y="5074920"/>
            <a:ext cx="347472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1DA7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0560" y="50749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б-р Маршала Рокоссовского, 6 к1В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183880" y="5074920"/>
            <a:ext cx="347472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1DA7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83880" y="50749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минуты от метро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4672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Спасибо. Вопросы — сейчас или после доклада.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KidsUP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ИИ-сотрудник в детском центре KidsUP</dc:title>
  <dc:subject>PptxGenJS Presentation</dc:subject>
  <dc:creator>KidsUP</dc:creator>
  <cp:lastModifiedBy>KidsUP</cp:lastModifiedBy>
  <cp:revision>1</cp:revision>
  <dcterms:created xsi:type="dcterms:W3CDTF">2026-08-21T13:40:26Z</dcterms:created>
  <dcterms:modified xsi:type="dcterms:W3CDTF">2026-08-21T13:40:26Z</dcterms:modified>
</cp:coreProperties>
</file>