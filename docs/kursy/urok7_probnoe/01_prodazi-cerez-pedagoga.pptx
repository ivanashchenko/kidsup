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60" r:id="rId4"/>
    <p:sldId id="262" r:id="rId5"/>
    <p:sldId id="263" r:id="rId6"/>
    <p:sldId id="914" r:id="rId7"/>
    <p:sldId id="913" r:id="rId8"/>
    <p:sldId id="264" r:id="rId9"/>
    <p:sldId id="265" r:id="rId10"/>
    <p:sldId id="266" r:id="rId11"/>
    <p:sldId id="267" r:id="rId12"/>
    <p:sldId id="269" r:id="rId13"/>
    <p:sldId id="273" r:id="rId14"/>
    <p:sldId id="270" r:id="rId15"/>
    <p:sldId id="271" r:id="rId16"/>
    <p:sldId id="272" r:id="rId17"/>
    <p:sldId id="915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899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916" r:id="rId42"/>
    <p:sldId id="912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7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1E6B0-D7CE-4AFA-822B-A90A50647D82}" type="datetimeFigureOut">
              <a:rPr lang="ru-RU" smtClean="0"/>
              <a:t>19.08.2026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EA688-FD65-4121-BB1F-E727962C1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45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459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7" name="Google Shape;997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0217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0051" y="712419"/>
            <a:ext cx="6102984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8645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0303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645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0303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645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8645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2250"/>
              </a:buClr>
              <a:buSzPts val="1600"/>
              <a:buNone/>
              <a:defRPr sz="1600">
                <a:solidFill>
                  <a:srgbClr val="43225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63814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10802202" y="6356350"/>
            <a:ext cx="103609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title"/>
          </p:nvPr>
        </p:nvSpPr>
        <p:spPr>
          <a:xfrm>
            <a:off x="838200" y="296883"/>
            <a:ext cx="7468590" cy="139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2"/>
          </p:nvPr>
        </p:nvSpPr>
        <p:spPr>
          <a:xfrm>
            <a:off x="5225143" y="2057399"/>
            <a:ext cx="6128657" cy="38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2250"/>
              </a:buClr>
              <a:buSzPts val="2800"/>
              <a:buFont typeface="Trebuchet MS"/>
              <a:buChar char="•"/>
              <a:defRPr>
                <a:solidFill>
                  <a:srgbClr val="432250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32250"/>
              </a:buClr>
              <a:buSzPts val="2400"/>
              <a:buFont typeface="Trebuchet MS"/>
              <a:buChar char="•"/>
              <a:defRPr>
                <a:solidFill>
                  <a:srgbClr val="432250"/>
                </a:solidFill>
              </a:defRPr>
            </a:lvl2pPr>
            <a:lvl3pPr marL="1371600" lvl="2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32250"/>
              </a:buClr>
              <a:buSzPts val="1000"/>
              <a:buFont typeface="Trebuchet MS"/>
              <a:buChar char="•"/>
              <a:defRPr>
                <a:solidFill>
                  <a:srgbClr val="432250"/>
                </a:solidFill>
              </a:defRPr>
            </a:lvl3pPr>
            <a:lvl4pPr marL="1828800" lvl="3" indent="-27431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32250"/>
              </a:buClr>
              <a:buSzPts val="720"/>
              <a:buFont typeface="Trebuchet MS"/>
              <a:buChar char="•"/>
              <a:defRPr>
                <a:solidFill>
                  <a:srgbClr val="432250"/>
                </a:solidFill>
              </a:defRPr>
            </a:lvl4pPr>
            <a:lvl5pPr marL="2286000" lvl="4" indent="-27432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32250"/>
              </a:buClr>
              <a:buSzPts val="720"/>
              <a:buFont typeface="Trebuchet MS"/>
              <a:buChar char="•"/>
              <a:defRPr>
                <a:solidFill>
                  <a:srgbClr val="43225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519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84429"/>
            <a:ext cx="8011490" cy="123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8645A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6688" y="1543728"/>
            <a:ext cx="9236710" cy="3651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0303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53002" y="2602814"/>
            <a:ext cx="7096125" cy="25069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274320">
              <a:lnSpc>
                <a:spcPts val="4750"/>
              </a:lnSpc>
              <a:spcBef>
                <a:spcPts val="695"/>
              </a:spcBef>
            </a:pPr>
            <a:r>
              <a:rPr sz="4400" b="1" dirty="0">
                <a:solidFill>
                  <a:srgbClr val="8645A0"/>
                </a:solidFill>
                <a:latin typeface="Arial"/>
                <a:cs typeface="Arial"/>
              </a:rPr>
              <a:t>Как</a:t>
            </a:r>
            <a:r>
              <a:rPr sz="4400" b="1" spc="-125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8645A0"/>
                </a:solidFill>
                <a:latin typeface="Arial"/>
                <a:cs typeface="Arial"/>
              </a:rPr>
              <a:t>педагогу</a:t>
            </a:r>
            <a:r>
              <a:rPr sz="4400" b="1" spc="-105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spc="-10" dirty="0">
                <a:solidFill>
                  <a:srgbClr val="8645A0"/>
                </a:solidFill>
                <a:latin typeface="Arial"/>
                <a:cs typeface="Arial"/>
              </a:rPr>
              <a:t>продавать </a:t>
            </a:r>
            <a:r>
              <a:rPr sz="4400" b="1" dirty="0">
                <a:solidFill>
                  <a:srgbClr val="8645A0"/>
                </a:solidFill>
                <a:latin typeface="Arial"/>
                <a:cs typeface="Arial"/>
              </a:rPr>
              <a:t>после</a:t>
            </a:r>
            <a:r>
              <a:rPr sz="4400" b="1" spc="-200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8645A0"/>
                </a:solidFill>
                <a:latin typeface="Arial"/>
                <a:cs typeface="Arial"/>
              </a:rPr>
              <a:t>пробных</a:t>
            </a:r>
            <a:r>
              <a:rPr sz="4400" b="1" spc="-180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spc="-10" dirty="0">
                <a:solidFill>
                  <a:srgbClr val="8645A0"/>
                </a:solidFill>
                <a:latin typeface="Arial"/>
                <a:cs typeface="Arial"/>
              </a:rPr>
              <a:t>занятий, </a:t>
            </a:r>
            <a:r>
              <a:rPr sz="4400" b="1" spc="-40" dirty="0">
                <a:solidFill>
                  <a:srgbClr val="8645A0"/>
                </a:solidFill>
                <a:latin typeface="Arial"/>
                <a:cs typeface="Arial"/>
              </a:rPr>
              <a:t>мастер-</a:t>
            </a:r>
            <a:r>
              <a:rPr sz="4400" b="1" dirty="0">
                <a:solidFill>
                  <a:srgbClr val="8645A0"/>
                </a:solidFill>
                <a:latin typeface="Arial"/>
                <a:cs typeface="Arial"/>
              </a:rPr>
              <a:t>классов</a:t>
            </a:r>
            <a:r>
              <a:rPr sz="4400" b="1" spc="20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spc="-50" dirty="0">
                <a:solidFill>
                  <a:srgbClr val="8645A0"/>
                </a:solidFill>
                <a:latin typeface="Arial"/>
                <a:cs typeface="Arial"/>
              </a:rPr>
              <a:t>и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ts val="4695"/>
              </a:lnSpc>
            </a:pPr>
            <a:r>
              <a:rPr sz="4400" b="1" spc="-10" dirty="0">
                <a:solidFill>
                  <a:srgbClr val="8645A0"/>
                </a:solidFill>
                <a:latin typeface="Arial"/>
                <a:cs typeface="Arial"/>
              </a:rPr>
              <a:t>диагностических</a:t>
            </a:r>
            <a:r>
              <a:rPr sz="4400" b="1" spc="-204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spc="-10" dirty="0">
                <a:solidFill>
                  <a:srgbClr val="8645A0"/>
                </a:solidFill>
                <a:latin typeface="Arial"/>
                <a:cs typeface="Arial"/>
              </a:rPr>
              <a:t>занятий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856" y="1554480"/>
            <a:ext cx="3337560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568" rIns="0" bIns="0" rtlCol="0">
            <a:spAutoFit/>
          </a:bodyPr>
          <a:lstStyle/>
          <a:p>
            <a:pPr marL="140843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Сегодня</a:t>
            </a:r>
            <a:r>
              <a:rPr sz="4400" spc="-170" dirty="0"/>
              <a:t> </a:t>
            </a:r>
            <a:r>
              <a:rPr sz="4400" dirty="0"/>
              <a:t>вы</a:t>
            </a:r>
            <a:r>
              <a:rPr sz="4400" spc="-155" dirty="0"/>
              <a:t> </a:t>
            </a:r>
            <a:r>
              <a:rPr sz="4400" spc="-10" dirty="0"/>
              <a:t>узнаете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327" y="2622550"/>
            <a:ext cx="169867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327" y="3024885"/>
            <a:ext cx="169867" cy="176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327" y="3698494"/>
            <a:ext cx="169867" cy="1767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327" y="4100829"/>
            <a:ext cx="169867" cy="1767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327" y="4503165"/>
            <a:ext cx="169867" cy="1767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05000" y="2438400"/>
            <a:ext cx="9156700" cy="231013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875"/>
              </a:spcBef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Универсальную</a:t>
            </a:r>
            <a:r>
              <a:rPr sz="20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технику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ведения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разговора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</a:t>
            </a:r>
            <a:r>
              <a:rPr sz="20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шагам;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ts val="2280"/>
              </a:lnSpc>
              <a:spcBef>
                <a:spcPts val="770"/>
              </a:spcBef>
            </a:pPr>
            <a:r>
              <a:rPr sz="20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Конкретные</a:t>
            </a:r>
            <a:r>
              <a:rPr sz="20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речевые</a:t>
            </a:r>
            <a:r>
              <a:rPr sz="20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формулы,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которые</a:t>
            </a:r>
            <a:r>
              <a:rPr sz="20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позволяют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выстроить</a:t>
            </a:r>
            <a:r>
              <a:rPr sz="20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уважительную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коммуникацию;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надо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сделать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ДО,</a:t>
            </a:r>
            <a:r>
              <a:rPr sz="20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во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время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0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ПОСЛЕ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занятия;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Секреты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лёгкой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продажи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без</a:t>
            </a:r>
            <a:r>
              <a:rPr sz="20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манипуляций</a:t>
            </a:r>
            <a:r>
              <a:rPr sz="20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0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впаривания;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Взаимодействие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администратором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центра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</a:t>
            </a:r>
            <a:r>
              <a:rPr sz="20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ведении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"пробничка".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45455" y="1176604"/>
            <a:ext cx="451612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303030"/>
                </a:solidFill>
              </a:rPr>
              <a:t>Окнянская</a:t>
            </a:r>
            <a:r>
              <a:rPr sz="4400" spc="-215" dirty="0">
                <a:solidFill>
                  <a:srgbClr val="303030"/>
                </a:solidFill>
              </a:rPr>
              <a:t> </a:t>
            </a:r>
            <a:r>
              <a:rPr sz="4400" spc="-20" dirty="0">
                <a:solidFill>
                  <a:srgbClr val="303030"/>
                </a:solidFill>
              </a:rPr>
              <a:t>Нина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045455" y="2439161"/>
            <a:ext cx="6323330" cy="290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indent="-145415">
              <a:lnSpc>
                <a:spcPts val="2050"/>
              </a:lnSpc>
              <a:spcBef>
                <a:spcPts val="100"/>
              </a:spcBef>
              <a:buFont typeface="Microsoft Sans Serif"/>
              <a:buChar char="•"/>
              <a:tabLst>
                <a:tab pos="158115" algn="l"/>
              </a:tabLst>
            </a:pPr>
            <a:r>
              <a:rPr sz="1800" dirty="0">
                <a:latin typeface="Trebuchet MS"/>
                <a:cs typeface="Trebuchet MS"/>
              </a:rPr>
              <a:t>учредитель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и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руководитель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сообщества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руководителей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latin typeface="Trebuchet MS"/>
                <a:cs typeface="Trebuchet MS"/>
              </a:rPr>
              <a:t>детских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проектов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«Яркие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мы»</a:t>
            </a:r>
            <a:endParaRPr sz="1800">
              <a:latin typeface="Trebuchet MS"/>
              <a:cs typeface="Trebuchet MS"/>
            </a:endParaRPr>
          </a:p>
          <a:p>
            <a:pPr marL="158115" indent="-145415">
              <a:lnSpc>
                <a:spcPts val="2050"/>
              </a:lnSpc>
              <a:spcBef>
                <a:spcPts val="770"/>
              </a:spcBef>
              <a:buFont typeface="Microsoft Sans Serif"/>
              <a:buChar char="•"/>
              <a:tabLst>
                <a:tab pos="158115" algn="l"/>
              </a:tabLst>
            </a:pPr>
            <a:r>
              <a:rPr sz="1800" dirty="0">
                <a:latin typeface="Trebuchet MS"/>
                <a:cs typeface="Trebuchet MS"/>
              </a:rPr>
              <a:t>создатель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и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руководитель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сети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детских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центров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"Дом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0"/>
              </a:lnSpc>
            </a:pPr>
            <a:r>
              <a:rPr sz="1800" dirty="0">
                <a:latin typeface="Trebuchet MS"/>
                <a:cs typeface="Trebuchet MS"/>
              </a:rPr>
              <a:t>волшебников"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(работают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с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2010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г.)</a:t>
            </a:r>
            <a:endParaRPr sz="1800">
              <a:latin typeface="Trebuchet MS"/>
              <a:cs typeface="Trebuchet MS"/>
            </a:endParaRPr>
          </a:p>
          <a:p>
            <a:pPr marL="158115" indent="-145415">
              <a:lnSpc>
                <a:spcPts val="2050"/>
              </a:lnSpc>
              <a:spcBef>
                <a:spcPts val="790"/>
              </a:spcBef>
              <a:buFont typeface="Microsoft Sans Serif"/>
              <a:buChar char="•"/>
              <a:tabLst>
                <a:tab pos="158115" algn="l"/>
              </a:tabLst>
            </a:pPr>
            <a:r>
              <a:rPr sz="1800" dirty="0">
                <a:latin typeface="Trebuchet MS"/>
                <a:cs typeface="Trebuchet MS"/>
              </a:rPr>
              <a:t>сооснователь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детского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образовательного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онлайн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центра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0"/>
              </a:lnSpc>
            </a:pPr>
            <a:r>
              <a:rPr sz="1800" spc="-25" dirty="0">
                <a:latin typeface="Trebuchet MS"/>
                <a:cs typeface="Trebuchet MS"/>
              </a:rPr>
              <a:t>RUS</a:t>
            </a:r>
            <a:endParaRPr sz="1800">
              <a:latin typeface="Trebuchet MS"/>
              <a:cs typeface="Trebuchet MS"/>
            </a:endParaRPr>
          </a:p>
          <a:p>
            <a:pPr marL="158115" indent="-145415">
              <a:lnSpc>
                <a:spcPts val="2050"/>
              </a:lnSpc>
              <a:spcBef>
                <a:spcPts val="795"/>
              </a:spcBef>
              <a:buFont typeface="Microsoft Sans Serif"/>
              <a:buChar char="•"/>
              <a:tabLst>
                <a:tab pos="158115" algn="l"/>
              </a:tabLst>
            </a:pPr>
            <a:r>
              <a:rPr sz="1800" dirty="0">
                <a:latin typeface="Trebuchet MS"/>
                <a:cs typeface="Trebuchet MS"/>
              </a:rPr>
              <a:t>автор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учебных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программ,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тренингов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и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курсов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для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1945"/>
              </a:lnSpc>
            </a:pPr>
            <a:r>
              <a:rPr sz="1800" dirty="0">
                <a:latin typeface="Trebuchet MS"/>
                <a:cs typeface="Trebuchet MS"/>
              </a:rPr>
              <a:t>руководителей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и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сотрудников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детских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центров,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в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том</a:t>
            </a:r>
            <a:endParaRPr sz="1800">
              <a:latin typeface="Trebuchet MS"/>
              <a:cs typeface="Trebuchet MS"/>
            </a:endParaRPr>
          </a:p>
          <a:p>
            <a:pPr marL="12700" marR="26670">
              <a:lnSpc>
                <a:spcPts val="1939"/>
              </a:lnSpc>
              <a:spcBef>
                <a:spcPts val="145"/>
              </a:spcBef>
            </a:pPr>
            <a:r>
              <a:rPr sz="1800" dirty="0">
                <a:latin typeface="Trebuchet MS"/>
                <a:cs typeface="Trebuchet MS"/>
              </a:rPr>
              <a:t>числе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"Онлайн-</a:t>
            </a:r>
            <a:r>
              <a:rPr sz="1800" dirty="0">
                <a:latin typeface="Trebuchet MS"/>
                <a:cs typeface="Trebuchet MS"/>
              </a:rPr>
              <a:t>школа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вожатых",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Летний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городской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лагерь: </a:t>
            </a:r>
            <a:r>
              <a:rPr sz="1800" dirty="0">
                <a:latin typeface="Trebuchet MS"/>
                <a:cs typeface="Trebuchet MS"/>
              </a:rPr>
              <a:t>планирование,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организация,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продвижение".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79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015" y="2115311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8288">
            <a:solidFill>
              <a:srgbClr val="6DCF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055" rIns="0" bIns="0" rtlCol="0">
            <a:spAutoFit/>
          </a:bodyPr>
          <a:lstStyle/>
          <a:p>
            <a:pPr marL="603885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Когда</a:t>
            </a:r>
            <a:r>
              <a:rPr sz="4400" spc="-225" dirty="0"/>
              <a:t> </a:t>
            </a:r>
            <a:r>
              <a:rPr sz="4400" dirty="0"/>
              <a:t>педагог</a:t>
            </a:r>
            <a:r>
              <a:rPr sz="4400" spc="-229" dirty="0"/>
              <a:t> </a:t>
            </a:r>
            <a:r>
              <a:rPr sz="4400" spc="-10" dirty="0"/>
              <a:t>продаёт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376" y="2596133"/>
            <a:ext cx="223793" cy="2499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376" y="3108198"/>
            <a:ext cx="223793" cy="249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376" y="3620261"/>
            <a:ext cx="223793" cy="2499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3873" y="2390408"/>
            <a:ext cx="8453527" cy="15676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94890">
              <a:lnSpc>
                <a:spcPct val="120100"/>
              </a:lnSpc>
              <a:spcBef>
                <a:spcPts val="100"/>
              </a:spcBef>
            </a:pP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28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индивидуальном</a:t>
            </a:r>
            <a:r>
              <a:rPr sz="2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solidFill>
                  <a:srgbClr val="303030"/>
                </a:solidFill>
                <a:latin typeface="Microsoft Sans Serif"/>
                <a:cs typeface="Microsoft Sans Serif"/>
              </a:rPr>
              <a:t>занятии</a:t>
            </a:r>
            <a:r>
              <a:rPr sz="2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endParaRPr lang="ru-RU" sz="2800" spc="-10" dirty="0">
              <a:solidFill>
                <a:srgbClr val="303030"/>
              </a:solidFill>
              <a:latin typeface="Microsoft Sans Serif"/>
              <a:cs typeface="Microsoft Sans Serif"/>
            </a:endParaRPr>
          </a:p>
          <a:p>
            <a:pPr marL="12700" marR="2294890">
              <a:lnSpc>
                <a:spcPct val="120100"/>
              </a:lnSpc>
              <a:spcBef>
                <a:spcPts val="100"/>
              </a:spcBef>
            </a:pPr>
            <a:r>
              <a:rPr sz="2800" dirty="0" err="1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2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 err="1">
                <a:solidFill>
                  <a:srgbClr val="303030"/>
                </a:solidFill>
                <a:latin typeface="Microsoft Sans Serif"/>
                <a:cs typeface="Microsoft Sans Serif"/>
              </a:rPr>
              <a:t>пробном</a:t>
            </a:r>
            <a:r>
              <a:rPr sz="28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 err="1">
                <a:solidFill>
                  <a:srgbClr val="303030"/>
                </a:solidFill>
                <a:latin typeface="Microsoft Sans Serif"/>
                <a:cs typeface="Microsoft Sans Serif"/>
              </a:rPr>
              <a:t>уроке</a:t>
            </a:r>
            <a:r>
              <a:rPr lang="ru-RU" sz="2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/открытом уроке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 err="1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2800" spc="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мастер-</a:t>
            </a:r>
            <a:r>
              <a:rPr sz="28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классе/родительском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собрании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1863217"/>
            <a:ext cx="191437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2320417"/>
            <a:ext cx="191437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2777617"/>
            <a:ext cx="191437" cy="2133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3560953"/>
            <a:ext cx="191437" cy="2133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018153"/>
            <a:ext cx="191437" cy="2133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475353"/>
            <a:ext cx="191437" cy="2133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929504"/>
            <a:ext cx="191437" cy="21336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8FE25D93-EEB0-215F-FF56-F364F82ED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B1C1B68-5F24-F6B7-4D11-ED5D2F5C1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196"/>
            <a:ext cx="12192000" cy="6771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1863217"/>
            <a:ext cx="191437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2320417"/>
            <a:ext cx="191437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2777617"/>
            <a:ext cx="191437" cy="2133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3560953"/>
            <a:ext cx="191437" cy="2133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018153"/>
            <a:ext cx="191437" cy="2133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475353"/>
            <a:ext cx="191437" cy="2133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929504"/>
            <a:ext cx="191437" cy="213360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8FE25D93-EEB0-215F-FF56-F364F82ED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DA89F0-A430-A0EA-B0FD-8C836EA26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2" y="0"/>
            <a:ext cx="12090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54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055" rIns="0" bIns="0" rtlCol="0">
            <a:spAutoFit/>
          </a:bodyPr>
          <a:lstStyle/>
          <a:p>
            <a:pPr marL="603885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Правила</a:t>
            </a:r>
            <a:r>
              <a:rPr sz="4400" spc="-135" dirty="0"/>
              <a:t> </a:t>
            </a:r>
            <a:r>
              <a:rPr sz="4400" spc="-10" dirty="0"/>
              <a:t>продаж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1863217"/>
            <a:ext cx="191437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2320417"/>
            <a:ext cx="191437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2777617"/>
            <a:ext cx="191437" cy="2133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3560953"/>
            <a:ext cx="191437" cy="2133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018153"/>
            <a:ext cx="191437" cy="2133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475353"/>
            <a:ext cx="191437" cy="21336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8855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825"/>
              </a:spcBef>
            </a:pPr>
            <a:r>
              <a:rPr sz="2400" dirty="0"/>
              <a:t>Не</a:t>
            </a:r>
            <a:r>
              <a:rPr sz="2400" spc="-5" dirty="0"/>
              <a:t> </a:t>
            </a:r>
            <a:r>
              <a:rPr sz="2400" spc="-25" dirty="0"/>
              <a:t>обманывать</a:t>
            </a:r>
            <a:r>
              <a:rPr sz="2400" spc="-40" dirty="0"/>
              <a:t> </a:t>
            </a:r>
            <a:r>
              <a:rPr sz="2400" dirty="0"/>
              <a:t>и не</a:t>
            </a:r>
            <a:r>
              <a:rPr sz="2400" spc="-15" dirty="0"/>
              <a:t> </a:t>
            </a:r>
            <a:r>
              <a:rPr sz="2400" spc="-10" dirty="0"/>
              <a:t>манипулировать</a:t>
            </a:r>
            <a:endParaRPr sz="2400"/>
          </a:p>
          <a:p>
            <a:pPr marL="49530" marR="451484">
              <a:lnSpc>
                <a:spcPct val="125000"/>
              </a:lnSpc>
            </a:pPr>
            <a:r>
              <a:rPr sz="2400" dirty="0"/>
              <a:t>Не</a:t>
            </a:r>
            <a:r>
              <a:rPr sz="2400" spc="-30" dirty="0"/>
              <a:t> </a:t>
            </a:r>
            <a:r>
              <a:rPr sz="2400" spc="-35" dirty="0"/>
              <a:t>консультировать</a:t>
            </a:r>
            <a:r>
              <a:rPr sz="2400" spc="-50" dirty="0"/>
              <a:t> </a:t>
            </a:r>
            <a:r>
              <a:rPr sz="2400" dirty="0"/>
              <a:t>по</a:t>
            </a:r>
            <a:r>
              <a:rPr sz="2400" spc="-30" dirty="0"/>
              <a:t> </a:t>
            </a:r>
            <a:r>
              <a:rPr sz="2400" spc="-20" dirty="0"/>
              <a:t>темам,</a:t>
            </a:r>
            <a:r>
              <a:rPr sz="2400" spc="-85" dirty="0"/>
              <a:t> </a:t>
            </a:r>
            <a:r>
              <a:rPr sz="2400" dirty="0"/>
              <a:t>в</a:t>
            </a:r>
            <a:r>
              <a:rPr sz="2400" spc="-35" dirty="0"/>
              <a:t> </a:t>
            </a:r>
            <a:r>
              <a:rPr sz="2400" spc="-20" dirty="0"/>
              <a:t>которых</a:t>
            </a:r>
            <a:r>
              <a:rPr sz="2400" spc="-75" dirty="0"/>
              <a:t> </a:t>
            </a:r>
            <a:r>
              <a:rPr sz="2400" dirty="0"/>
              <a:t>нет</a:t>
            </a:r>
            <a:r>
              <a:rPr sz="2400" spc="-45" dirty="0"/>
              <a:t> </a:t>
            </a:r>
            <a:r>
              <a:rPr sz="2400" spc="-10" dirty="0"/>
              <a:t>экспертности </a:t>
            </a:r>
            <a:r>
              <a:rPr sz="2400" dirty="0"/>
              <a:t>При</a:t>
            </a:r>
            <a:r>
              <a:rPr sz="2400" spc="-70" dirty="0"/>
              <a:t> </a:t>
            </a:r>
            <a:r>
              <a:rPr sz="2400" dirty="0"/>
              <a:t>общении</a:t>
            </a:r>
            <a:r>
              <a:rPr sz="2400" spc="-75" dirty="0"/>
              <a:t> </a:t>
            </a:r>
            <a:r>
              <a:rPr sz="2400" dirty="0"/>
              <a:t>с</a:t>
            </a:r>
            <a:r>
              <a:rPr sz="2400" spc="-50" dirty="0"/>
              <a:t> </a:t>
            </a:r>
            <a:r>
              <a:rPr sz="2400" spc="-20" dirty="0"/>
              <a:t>родителем</a:t>
            </a:r>
            <a:r>
              <a:rPr sz="2400" spc="-85" dirty="0"/>
              <a:t> </a:t>
            </a:r>
            <a:r>
              <a:rPr sz="2400" dirty="0"/>
              <a:t>наедине</a:t>
            </a:r>
            <a:r>
              <a:rPr sz="2400" spc="-65" dirty="0"/>
              <a:t> </a:t>
            </a:r>
            <a:r>
              <a:rPr sz="2400" spc="-10" dirty="0"/>
              <a:t>говорить</a:t>
            </a:r>
            <a:r>
              <a:rPr sz="2400" spc="-90" dirty="0"/>
              <a:t> </a:t>
            </a:r>
            <a:r>
              <a:rPr sz="2400" dirty="0"/>
              <a:t>не</a:t>
            </a:r>
            <a:r>
              <a:rPr sz="2400" spc="-50" dirty="0"/>
              <a:t> </a:t>
            </a:r>
            <a:r>
              <a:rPr sz="2400" dirty="0"/>
              <a:t>более</a:t>
            </a:r>
            <a:r>
              <a:rPr sz="2400" spc="-15" dirty="0"/>
              <a:t> </a:t>
            </a:r>
            <a:r>
              <a:rPr sz="2400" spc="-25" dirty="0"/>
              <a:t>15%</a:t>
            </a:r>
            <a:endParaRPr sz="2400"/>
          </a:p>
          <a:p>
            <a:pPr marL="49530">
              <a:lnSpc>
                <a:spcPts val="2595"/>
              </a:lnSpc>
            </a:pPr>
            <a:r>
              <a:rPr sz="2400" spc="-10" dirty="0"/>
              <a:t>времени</a:t>
            </a:r>
            <a:endParaRPr sz="2400"/>
          </a:p>
          <a:p>
            <a:pPr marL="49530">
              <a:lnSpc>
                <a:spcPct val="100000"/>
              </a:lnSpc>
              <a:spcBef>
                <a:spcPts val="700"/>
              </a:spcBef>
            </a:pPr>
            <a:r>
              <a:rPr sz="2400" dirty="0"/>
              <a:t>Не</a:t>
            </a:r>
            <a:r>
              <a:rPr sz="2400" spc="-25" dirty="0"/>
              <a:t> </a:t>
            </a:r>
            <a:r>
              <a:rPr sz="2400" spc="-30" dirty="0"/>
              <a:t>переживать</a:t>
            </a:r>
            <a:r>
              <a:rPr sz="2400" spc="-90" dirty="0"/>
              <a:t> </a:t>
            </a:r>
            <a:r>
              <a:rPr sz="2400" dirty="0"/>
              <a:t>о</a:t>
            </a:r>
            <a:r>
              <a:rPr sz="2400" spc="-20" dirty="0"/>
              <a:t> </a:t>
            </a:r>
            <a:r>
              <a:rPr sz="2400" dirty="0"/>
              <a:t>том,</a:t>
            </a:r>
            <a:r>
              <a:rPr sz="2400" spc="-60" dirty="0"/>
              <a:t> </a:t>
            </a:r>
            <a:r>
              <a:rPr sz="2400" dirty="0"/>
              <a:t>что</a:t>
            </a:r>
            <a:r>
              <a:rPr sz="2400" spc="-40" dirty="0"/>
              <a:t> </a:t>
            </a:r>
            <a:r>
              <a:rPr sz="2400" dirty="0"/>
              <a:t>не</a:t>
            </a:r>
            <a:r>
              <a:rPr sz="2400" spc="-20" dirty="0"/>
              <a:t> </a:t>
            </a:r>
            <a:r>
              <a:rPr sz="2400" spc="-10" dirty="0"/>
              <a:t>купят</a:t>
            </a:r>
            <a:endParaRPr sz="2400"/>
          </a:p>
          <a:p>
            <a:pPr marL="49530">
              <a:lnSpc>
                <a:spcPct val="100000"/>
              </a:lnSpc>
              <a:spcBef>
                <a:spcPts val="720"/>
              </a:spcBef>
            </a:pPr>
            <a:r>
              <a:rPr sz="2400" dirty="0"/>
              <a:t>Оставаться</a:t>
            </a:r>
            <a:r>
              <a:rPr sz="2400" spc="-105" dirty="0"/>
              <a:t> </a:t>
            </a:r>
            <a:r>
              <a:rPr sz="2400" dirty="0"/>
              <a:t>в</a:t>
            </a:r>
            <a:r>
              <a:rPr sz="2400" spc="-65" dirty="0"/>
              <a:t> </a:t>
            </a:r>
            <a:r>
              <a:rPr sz="2400" spc="-20" dirty="0"/>
              <a:t>экспертных</a:t>
            </a:r>
            <a:r>
              <a:rPr sz="2400" spc="-85" dirty="0"/>
              <a:t> </a:t>
            </a:r>
            <a:r>
              <a:rPr sz="2400" spc="-20" dirty="0"/>
              <a:t>рамках</a:t>
            </a:r>
            <a:r>
              <a:rPr sz="2400" spc="-95" dirty="0"/>
              <a:t> </a:t>
            </a:r>
            <a:r>
              <a:rPr sz="2400" dirty="0"/>
              <a:t>до</a:t>
            </a:r>
            <a:r>
              <a:rPr sz="2400" spc="-60" dirty="0"/>
              <a:t> </a:t>
            </a:r>
            <a:r>
              <a:rPr sz="2400" spc="-10" dirty="0"/>
              <a:t>самого</a:t>
            </a:r>
            <a:r>
              <a:rPr sz="2400" spc="-70" dirty="0"/>
              <a:t> </a:t>
            </a:r>
            <a:r>
              <a:rPr sz="2400" spc="-10" dirty="0"/>
              <a:t>конца</a:t>
            </a:r>
            <a:endParaRPr sz="2400"/>
          </a:p>
          <a:p>
            <a:pPr marL="49530">
              <a:lnSpc>
                <a:spcPct val="100000"/>
              </a:lnSpc>
              <a:spcBef>
                <a:spcPts val="725"/>
              </a:spcBef>
            </a:pPr>
            <a:r>
              <a:rPr sz="2400" dirty="0"/>
              <a:t>Быть</a:t>
            </a:r>
            <a:r>
              <a:rPr sz="2400" spc="20" dirty="0"/>
              <a:t> </a:t>
            </a:r>
            <a:r>
              <a:rPr sz="2400" spc="-10" dirty="0"/>
              <a:t>уверенными</a:t>
            </a:r>
            <a:endParaRPr sz="2400"/>
          </a:p>
          <a:p>
            <a:pPr marL="49530">
              <a:lnSpc>
                <a:spcPct val="100000"/>
              </a:lnSpc>
              <a:spcBef>
                <a:spcPts val="695"/>
              </a:spcBef>
            </a:pPr>
            <a:r>
              <a:rPr sz="2400" dirty="0"/>
              <a:t>Знать</a:t>
            </a:r>
            <a:r>
              <a:rPr sz="2400" spc="-90" dirty="0"/>
              <a:t> </a:t>
            </a:r>
            <a:r>
              <a:rPr sz="2400" spc="-45" dirty="0"/>
              <a:t>результаты</a:t>
            </a:r>
            <a:r>
              <a:rPr sz="2400" spc="-100" dirty="0"/>
              <a:t> </a:t>
            </a:r>
            <a:r>
              <a:rPr sz="2400" spc="-10" dirty="0"/>
              <a:t>курса,</a:t>
            </a:r>
            <a:r>
              <a:rPr sz="2400" spc="-95" dirty="0"/>
              <a:t> </a:t>
            </a:r>
            <a:r>
              <a:rPr sz="2400" spc="-30" dirty="0"/>
              <a:t>промежуточные</a:t>
            </a:r>
            <a:r>
              <a:rPr sz="2400" spc="-100" dirty="0"/>
              <a:t> </a:t>
            </a:r>
            <a:r>
              <a:rPr sz="2400" dirty="0"/>
              <a:t>этапы</a:t>
            </a:r>
            <a:r>
              <a:rPr sz="2400" spc="-110" dirty="0"/>
              <a:t> </a:t>
            </a:r>
            <a:r>
              <a:rPr sz="2400" dirty="0"/>
              <a:t>их</a:t>
            </a:r>
            <a:r>
              <a:rPr sz="2400" spc="-105" dirty="0"/>
              <a:t> </a:t>
            </a:r>
            <a:r>
              <a:rPr sz="2400" spc="-10" dirty="0"/>
              <a:t>достижения</a:t>
            </a:r>
            <a:endParaRPr sz="240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929504"/>
            <a:ext cx="191437" cy="21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44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311479"/>
            <a:ext cx="8011490" cy="1230045"/>
          </a:xfrm>
          <a:prstGeom prst="rect">
            <a:avLst/>
          </a:prstGeom>
        </p:spPr>
        <p:txBody>
          <a:bodyPr vert="horz" wrap="square" lIns="0" tIns="332485" rIns="0" bIns="0" rtlCol="0">
            <a:spAutoFit/>
          </a:bodyPr>
          <a:lstStyle/>
          <a:p>
            <a:pPr marL="438784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Что</a:t>
            </a:r>
            <a:r>
              <a:rPr sz="4000" spc="-110" dirty="0"/>
              <a:t> </a:t>
            </a:r>
            <a:r>
              <a:rPr sz="4000" spc="-10" dirty="0"/>
              <a:t>хочет</a:t>
            </a:r>
            <a:r>
              <a:rPr sz="4000" spc="-210" dirty="0"/>
              <a:t> </a:t>
            </a:r>
            <a:r>
              <a:rPr sz="4000" spc="-20" dirty="0"/>
              <a:t>мама</a:t>
            </a:r>
            <a:endParaRPr sz="4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152" y="2376677"/>
            <a:ext cx="145600" cy="1615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152" y="3123438"/>
            <a:ext cx="145600" cy="161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152" y="3870197"/>
            <a:ext cx="145600" cy="1615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152" y="4866894"/>
            <a:ext cx="145600" cy="1615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10461" y="2294585"/>
            <a:ext cx="8345170" cy="303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Родителю</a:t>
            </a:r>
            <a:r>
              <a:rPr sz="18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хочется</a:t>
            </a:r>
            <a:r>
              <a:rPr sz="1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получить</a:t>
            </a:r>
            <a:r>
              <a:rPr sz="18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поддержку</a:t>
            </a:r>
            <a:endParaRPr sz="1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Ощущение,</a:t>
            </a:r>
            <a:r>
              <a:rPr sz="18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1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твой</a:t>
            </a:r>
            <a:r>
              <a:rPr sz="18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ребенок</a:t>
            </a:r>
            <a:r>
              <a:rPr sz="18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учителю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небезразличен</a:t>
            </a:r>
            <a:endParaRPr sz="1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800" dirty="0">
              <a:latin typeface="Microsoft Sans Serif"/>
              <a:cs typeface="Microsoft Sans Serif"/>
            </a:endParaRPr>
          </a:p>
          <a:p>
            <a:pPr marL="12700" marR="5080">
              <a:lnSpc>
                <a:spcPts val="1939"/>
              </a:lnSpc>
            </a:pP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Родителю</a:t>
            </a:r>
            <a:r>
              <a:rPr sz="18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необходимо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убедиться,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18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его</a:t>
            </a:r>
            <a:r>
              <a:rPr sz="18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ребенком</a:t>
            </a:r>
            <a:r>
              <a:rPr sz="18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все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порядке,</a:t>
            </a:r>
            <a:r>
              <a:rPr sz="18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он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не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хуже,</a:t>
            </a:r>
            <a:r>
              <a:rPr sz="18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чем</a:t>
            </a:r>
            <a:r>
              <a:rPr sz="18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другие.</a:t>
            </a:r>
            <a:endParaRPr sz="1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2050"/>
              </a:lnSpc>
            </a:pP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Родитель</a:t>
            </a:r>
            <a:r>
              <a:rPr sz="1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хочет</a:t>
            </a:r>
            <a:r>
              <a:rPr sz="18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получить</a:t>
            </a:r>
            <a:r>
              <a:rPr sz="1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от</a:t>
            </a:r>
            <a:r>
              <a:rPr sz="18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педагога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конкретную</a:t>
            </a:r>
            <a:r>
              <a:rPr sz="18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помощь,</a:t>
            </a:r>
            <a:r>
              <a:rPr sz="18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ясные</a:t>
            </a:r>
            <a:r>
              <a:rPr sz="18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четкие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2050"/>
              </a:lnSpc>
            </a:pP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рекомендации</a:t>
            </a:r>
            <a:r>
              <a:rPr sz="18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18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уверенность, что</a:t>
            </a:r>
            <a:r>
              <a:rPr sz="18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18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ребенке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позаботятся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2400" y="2057400"/>
            <a:ext cx="5676900" cy="3166893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695"/>
              </a:spcBef>
            </a:pPr>
            <a:r>
              <a:rPr sz="4400" dirty="0"/>
              <a:t>Как</a:t>
            </a:r>
            <a:r>
              <a:rPr sz="4400" spc="-140" dirty="0"/>
              <a:t> </a:t>
            </a:r>
            <a:r>
              <a:rPr sz="4400" spc="-25" dirty="0"/>
              <a:t>подготовиться</a:t>
            </a:r>
            <a:r>
              <a:rPr sz="4400" spc="-60" dirty="0"/>
              <a:t> </a:t>
            </a:r>
            <a:r>
              <a:rPr sz="4400" spc="-50" dirty="0"/>
              <a:t>к </a:t>
            </a:r>
            <a:r>
              <a:rPr lang="ru-RU" sz="4400" spc="-50" dirty="0"/>
              <a:t>открытым </a:t>
            </a:r>
            <a:r>
              <a:rPr sz="4400" spc="-10" dirty="0" err="1"/>
              <a:t>занятиям</a:t>
            </a:r>
            <a:r>
              <a:rPr lang="ru-RU" sz="4400" spc="-10" dirty="0"/>
              <a:t> и мастер-классам на продающих мероприятиях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856" y="1554480"/>
            <a:ext cx="3337560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055" rIns="0" bIns="0" rtlCol="0">
            <a:spAutoFit/>
          </a:bodyPr>
          <a:lstStyle/>
          <a:p>
            <a:pPr marL="603885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Важные</a:t>
            </a:r>
            <a:r>
              <a:rPr sz="4400" spc="-165" dirty="0"/>
              <a:t> </a:t>
            </a:r>
            <a:r>
              <a:rPr sz="4400" spc="-10" dirty="0"/>
              <a:t>моменты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2320417"/>
            <a:ext cx="191437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2777617"/>
            <a:ext cx="191437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3231769"/>
            <a:ext cx="191437" cy="2133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3688969"/>
            <a:ext cx="191437" cy="2133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63" y="4146169"/>
            <a:ext cx="191437" cy="21336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186688" y="1543728"/>
            <a:ext cx="9236710" cy="4204840"/>
          </a:xfrm>
          <a:prstGeom prst="rect">
            <a:avLst/>
          </a:prstGeom>
        </p:spPr>
        <p:txBody>
          <a:bodyPr vert="horz" wrap="square" lIns="0" tIns="595474" rIns="0" bIns="0" rtlCol="0">
            <a:spAutoFit/>
          </a:bodyPr>
          <a:lstStyle/>
          <a:p>
            <a:pPr marL="49530" marR="2364740">
              <a:lnSpc>
                <a:spcPct val="124800"/>
              </a:lnSpc>
              <a:spcBef>
                <a:spcPts val="100"/>
              </a:spcBef>
            </a:pPr>
            <a:r>
              <a:rPr sz="2400" spc="-30" dirty="0"/>
              <a:t>Температура</a:t>
            </a:r>
            <a:r>
              <a:rPr sz="2400" spc="-75" dirty="0"/>
              <a:t> </a:t>
            </a:r>
            <a:r>
              <a:rPr sz="2400" dirty="0"/>
              <a:t>и</a:t>
            </a:r>
            <a:r>
              <a:rPr sz="2400" spc="-55" dirty="0"/>
              <a:t> </a:t>
            </a:r>
            <a:r>
              <a:rPr sz="2400" spc="-10" dirty="0"/>
              <a:t>свежий</a:t>
            </a:r>
            <a:r>
              <a:rPr sz="2400" spc="-50" dirty="0"/>
              <a:t> </a:t>
            </a:r>
            <a:r>
              <a:rPr sz="2400" spc="-20" dirty="0"/>
              <a:t>воздух</a:t>
            </a:r>
            <a:r>
              <a:rPr sz="2400" spc="-35" dirty="0"/>
              <a:t> </a:t>
            </a:r>
            <a:r>
              <a:rPr sz="2400" dirty="0"/>
              <a:t>в</a:t>
            </a:r>
            <a:r>
              <a:rPr sz="2400" spc="-60" dirty="0"/>
              <a:t> </a:t>
            </a:r>
            <a:r>
              <a:rPr sz="2400" spc="-10" dirty="0"/>
              <a:t>помещении </a:t>
            </a:r>
            <a:r>
              <a:rPr sz="2400" dirty="0"/>
              <a:t>Опрятность</a:t>
            </a:r>
            <a:r>
              <a:rPr sz="2400" spc="-55" dirty="0"/>
              <a:t> </a:t>
            </a:r>
            <a:r>
              <a:rPr sz="2400" dirty="0"/>
              <a:t>и</a:t>
            </a:r>
            <a:r>
              <a:rPr sz="2400" spc="-50" dirty="0"/>
              <a:t> </a:t>
            </a:r>
            <a:r>
              <a:rPr sz="2400" dirty="0"/>
              <a:t>уют</a:t>
            </a:r>
            <a:r>
              <a:rPr sz="2400" spc="-30" dirty="0"/>
              <a:t> </a:t>
            </a:r>
            <a:r>
              <a:rPr sz="2400" dirty="0"/>
              <a:t>в</a:t>
            </a:r>
            <a:r>
              <a:rPr sz="2400" spc="-35" dirty="0"/>
              <a:t> </a:t>
            </a:r>
            <a:r>
              <a:rPr sz="2400" spc="-10" dirty="0"/>
              <a:t>помещении,</a:t>
            </a:r>
            <a:r>
              <a:rPr sz="2400" spc="-70" dirty="0"/>
              <a:t> </a:t>
            </a:r>
            <a:r>
              <a:rPr sz="2400" spc="-10" dirty="0"/>
              <a:t>безопасность </a:t>
            </a:r>
            <a:r>
              <a:rPr sz="2400" spc="-40" dirty="0"/>
              <a:t>Достаточное</a:t>
            </a:r>
            <a:r>
              <a:rPr sz="2400" spc="-100" dirty="0"/>
              <a:t> </a:t>
            </a:r>
            <a:r>
              <a:rPr sz="2400" spc="-20" dirty="0"/>
              <a:t>количество</a:t>
            </a:r>
            <a:r>
              <a:rPr sz="2400" spc="-50" dirty="0"/>
              <a:t> </a:t>
            </a:r>
            <a:r>
              <a:rPr sz="2400" spc="-20" dirty="0"/>
              <a:t>мебели</a:t>
            </a:r>
            <a:r>
              <a:rPr sz="2400" spc="-80" dirty="0"/>
              <a:t> </a:t>
            </a:r>
            <a:r>
              <a:rPr sz="2400" dirty="0"/>
              <a:t>и</a:t>
            </a:r>
            <a:r>
              <a:rPr sz="2400" spc="-35" dirty="0"/>
              <a:t> </a:t>
            </a:r>
            <a:r>
              <a:rPr sz="2400" spc="-10" dirty="0"/>
              <a:t>материалов </a:t>
            </a:r>
            <a:r>
              <a:rPr sz="2400" dirty="0"/>
              <a:t>Знание</a:t>
            </a:r>
            <a:r>
              <a:rPr sz="2400" spc="-70" dirty="0"/>
              <a:t> </a:t>
            </a:r>
            <a:r>
              <a:rPr sz="2400" dirty="0"/>
              <a:t>имен</a:t>
            </a:r>
            <a:r>
              <a:rPr sz="2400" spc="-90" dirty="0"/>
              <a:t> </a:t>
            </a:r>
            <a:r>
              <a:rPr sz="2400" dirty="0"/>
              <a:t>детей</a:t>
            </a:r>
            <a:r>
              <a:rPr sz="2400" spc="-110" dirty="0"/>
              <a:t> </a:t>
            </a:r>
            <a:r>
              <a:rPr sz="2400" dirty="0"/>
              <a:t>и</a:t>
            </a:r>
            <a:r>
              <a:rPr sz="2400" spc="-70" dirty="0"/>
              <a:t> </a:t>
            </a:r>
            <a:r>
              <a:rPr sz="2400" spc="-10" dirty="0"/>
              <a:t>родителей</a:t>
            </a:r>
            <a:endParaRPr sz="2400" dirty="0"/>
          </a:p>
          <a:p>
            <a:pPr marL="49530" marR="5080">
              <a:lnSpc>
                <a:spcPts val="2590"/>
              </a:lnSpc>
              <a:spcBef>
                <a:spcPts val="1050"/>
              </a:spcBef>
            </a:pPr>
            <a:r>
              <a:rPr sz="2400" spc="-10" dirty="0"/>
              <a:t>Понимание,</a:t>
            </a:r>
            <a:r>
              <a:rPr sz="2400" spc="-120" dirty="0"/>
              <a:t> </a:t>
            </a:r>
            <a:r>
              <a:rPr sz="2400" dirty="0"/>
              <a:t>чем</a:t>
            </a:r>
            <a:r>
              <a:rPr sz="2400" spc="-90" dirty="0"/>
              <a:t> </a:t>
            </a:r>
            <a:r>
              <a:rPr sz="2400" spc="-30" dirty="0"/>
              <a:t>займете</a:t>
            </a:r>
            <a:r>
              <a:rPr sz="2400" spc="-114" dirty="0"/>
              <a:t> </a:t>
            </a:r>
            <a:r>
              <a:rPr sz="2400" dirty="0"/>
              <a:t>детей,</a:t>
            </a:r>
            <a:r>
              <a:rPr sz="2400" spc="-114" dirty="0"/>
              <a:t> </a:t>
            </a:r>
            <a:r>
              <a:rPr sz="2400" dirty="0"/>
              <a:t>пока</a:t>
            </a:r>
            <a:r>
              <a:rPr sz="2400" spc="-95" dirty="0"/>
              <a:t> </a:t>
            </a:r>
            <a:r>
              <a:rPr sz="2400" spc="-30" dirty="0"/>
              <a:t>будете</a:t>
            </a:r>
            <a:r>
              <a:rPr sz="2400" spc="-95" dirty="0"/>
              <a:t> </a:t>
            </a:r>
            <a:r>
              <a:rPr sz="2400" dirty="0"/>
              <a:t>общаться</a:t>
            </a:r>
            <a:r>
              <a:rPr sz="2400" spc="-80" dirty="0"/>
              <a:t> </a:t>
            </a:r>
            <a:r>
              <a:rPr sz="2400" dirty="0"/>
              <a:t>с</a:t>
            </a:r>
            <a:r>
              <a:rPr sz="2400" spc="-90" dirty="0"/>
              <a:t> </a:t>
            </a:r>
            <a:r>
              <a:rPr sz="2400" spc="-10" dirty="0"/>
              <a:t>мамой </a:t>
            </a:r>
            <a:r>
              <a:rPr sz="2400" dirty="0"/>
              <a:t>(еще</a:t>
            </a:r>
            <a:r>
              <a:rPr sz="2400" spc="-25" dirty="0"/>
              <a:t> игрушки</a:t>
            </a:r>
            <a:r>
              <a:rPr sz="2400" spc="-30" dirty="0"/>
              <a:t> </a:t>
            </a:r>
            <a:r>
              <a:rPr sz="2400" dirty="0"/>
              <a:t>для</a:t>
            </a:r>
            <a:r>
              <a:rPr sz="2400" spc="-30" dirty="0"/>
              <a:t> </a:t>
            </a:r>
            <a:r>
              <a:rPr sz="2400" spc="-20" dirty="0"/>
              <a:t>самостоятельной</a:t>
            </a:r>
            <a:r>
              <a:rPr sz="2400" spc="-65" dirty="0"/>
              <a:t> </a:t>
            </a:r>
            <a:r>
              <a:rPr sz="2400" spc="-10" dirty="0" err="1"/>
              <a:t>игры</a:t>
            </a:r>
            <a:r>
              <a:rPr sz="2400" spc="-10" dirty="0"/>
              <a:t>)</a:t>
            </a:r>
            <a:endParaRPr lang="ru-RU" sz="2400" spc="-10" dirty="0"/>
          </a:p>
          <a:p>
            <a:pPr marL="49530" marR="5080">
              <a:lnSpc>
                <a:spcPts val="2590"/>
              </a:lnSpc>
              <a:spcBef>
                <a:spcPts val="1050"/>
              </a:spcBef>
            </a:pPr>
            <a:r>
              <a:rPr lang="ru-RU" sz="2400" spc="-10" dirty="0"/>
              <a:t>Материалы должны быть новыми и чистыми</a:t>
            </a:r>
          </a:p>
          <a:p>
            <a:pPr marL="49530" marR="5080">
              <a:lnSpc>
                <a:spcPts val="2590"/>
              </a:lnSpc>
              <a:spcBef>
                <a:spcPts val="1050"/>
              </a:spcBef>
            </a:pPr>
            <a:r>
              <a:rPr lang="ru-RU" sz="2400" spc="-10" dirty="0"/>
              <a:t>Оборудование проверено и работает</a:t>
            </a:r>
            <a:endParaRPr sz="2400" dirty="0"/>
          </a:p>
        </p:txBody>
      </p:sp>
      <p:pic>
        <p:nvPicPr>
          <p:cNvPr id="9" name="object 7">
            <a:extLst>
              <a:ext uri="{FF2B5EF4-FFF2-40B4-BE49-F238E27FC236}">
                <a16:creationId xmlns:a16="http://schemas.microsoft.com/office/drawing/2014/main" id="{1623D519-25B1-A34C-6221-1003E73D40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022" y="4953000"/>
            <a:ext cx="191437" cy="213360"/>
          </a:xfrm>
          <a:prstGeom prst="rect">
            <a:avLst/>
          </a:prstGeom>
        </p:spPr>
      </p:pic>
      <p:pic>
        <p:nvPicPr>
          <p:cNvPr id="10" name="object 7">
            <a:extLst>
              <a:ext uri="{FF2B5EF4-FFF2-40B4-BE49-F238E27FC236}">
                <a16:creationId xmlns:a16="http://schemas.microsoft.com/office/drawing/2014/main" id="{C02C9AAF-7DE7-5E8B-31F8-39E912D131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629" y="5407152"/>
            <a:ext cx="191437" cy="21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87902" y="2704922"/>
            <a:ext cx="7254240" cy="1935786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695"/>
              </a:spcBef>
            </a:pPr>
            <a:r>
              <a:rPr sz="4400" spc="-20" dirty="0"/>
              <a:t>Универсальный</a:t>
            </a:r>
            <a:r>
              <a:rPr sz="4400" spc="-200" dirty="0"/>
              <a:t> </a:t>
            </a:r>
            <a:r>
              <a:rPr sz="4400" spc="-10" dirty="0" err="1"/>
              <a:t>алгоритм</a:t>
            </a:r>
            <a:r>
              <a:rPr sz="4400" spc="-10" dirty="0"/>
              <a:t> </a:t>
            </a:r>
            <a:r>
              <a:rPr lang="ru-RU" sz="4400" spc="-10" dirty="0"/>
              <a:t>проведения продающего урока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856" y="1554480"/>
            <a:ext cx="3337560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8790">
              <a:lnSpc>
                <a:spcPct val="100000"/>
              </a:lnSpc>
              <a:spcBef>
                <a:spcPts val="95"/>
              </a:spcBef>
            </a:pPr>
            <a:r>
              <a:rPr sz="4400" spc="-20" dirty="0"/>
              <a:t>Алгоритм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38" y="1696211"/>
            <a:ext cx="191437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38" y="2080260"/>
            <a:ext cx="191437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38" y="2461260"/>
            <a:ext cx="191437" cy="2133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38" y="2845307"/>
            <a:ext cx="191437" cy="2133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38" y="3229355"/>
            <a:ext cx="191437" cy="2133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38" y="3610355"/>
            <a:ext cx="191437" cy="2133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38" y="3994403"/>
            <a:ext cx="191437" cy="2133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38" y="4378452"/>
            <a:ext cx="191437" cy="21336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76706" y="1592960"/>
            <a:ext cx="6910070" cy="345630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2762250">
              <a:lnSpc>
                <a:spcPts val="3020"/>
              </a:lnSpc>
              <a:spcBef>
                <a:spcPts val="80"/>
              </a:spcBef>
            </a:pP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Установить</a:t>
            </a:r>
            <a:r>
              <a:rPr sz="2400" spc="-1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правила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Выявить </a:t>
            </a:r>
            <a:r>
              <a:rPr sz="24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запроc/потребность</a:t>
            </a: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Провести</a:t>
            </a:r>
            <a:r>
              <a:rPr sz="24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занятие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2164715">
              <a:lnSpc>
                <a:spcPct val="104600"/>
              </a:lnSpc>
              <a:spcBef>
                <a:spcPts val="15"/>
              </a:spcBef>
            </a:pPr>
            <a:r>
              <a:rPr sz="24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Дать</a:t>
            </a:r>
            <a:r>
              <a:rPr sz="24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обратную</a:t>
            </a:r>
            <a:r>
              <a:rPr sz="24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связь</a:t>
            </a:r>
            <a:r>
              <a:rPr sz="24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24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ребенке </a:t>
            </a:r>
            <a:r>
              <a:rPr sz="24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Рассказать</a:t>
            </a:r>
            <a:r>
              <a:rPr sz="24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24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курсе</a:t>
            </a:r>
            <a:r>
              <a:rPr sz="24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4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результатах </a:t>
            </a:r>
            <a:r>
              <a:rPr sz="24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Вызвать</a:t>
            </a:r>
            <a:r>
              <a:rPr sz="24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доверие</a:t>
            </a: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Проявить</a:t>
            </a:r>
            <a:r>
              <a:rPr sz="24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эмпатию</a:t>
            </a:r>
            <a:r>
              <a:rPr sz="24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4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неравнодушие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4200"/>
              </a:lnSpc>
              <a:spcBef>
                <a:spcPts val="25"/>
              </a:spcBef>
            </a:pP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Продать</a:t>
            </a:r>
            <a:r>
              <a:rPr sz="24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необходимость</a:t>
            </a:r>
            <a:r>
              <a:rPr sz="24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присоединиться</a:t>
            </a:r>
            <a:r>
              <a:rPr sz="24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сейчас </a:t>
            </a:r>
            <a:r>
              <a:rPr sz="2400" spc="-10" dirty="0" err="1">
                <a:solidFill>
                  <a:srgbClr val="303030"/>
                </a:solidFill>
                <a:latin typeface="Microsoft Sans Serif"/>
                <a:cs typeface="Microsoft Sans Serif"/>
              </a:rPr>
              <a:t>Передать</a:t>
            </a:r>
            <a:r>
              <a:rPr sz="2400" spc="-1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 err="1">
                <a:solidFill>
                  <a:srgbClr val="303030"/>
                </a:solidFill>
                <a:latin typeface="Microsoft Sans Serif"/>
                <a:cs typeface="Microsoft Sans Serif"/>
              </a:rPr>
              <a:t>клиента</a:t>
            </a:r>
            <a:r>
              <a:rPr lang="ru-RU"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администратору</a:t>
            </a:r>
            <a:endParaRPr sz="2400" dirty="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38" y="4759452"/>
            <a:ext cx="191437" cy="21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20720" y="3508959"/>
            <a:ext cx="663575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400" dirty="0"/>
              <a:t>Установить правила</a:t>
            </a:r>
            <a:endParaRPr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Шаг</a:t>
            </a:r>
            <a:r>
              <a:rPr sz="4400" spc="-130" dirty="0"/>
              <a:t> </a:t>
            </a:r>
            <a:r>
              <a:rPr sz="4400" dirty="0"/>
              <a:t>1.</a:t>
            </a:r>
            <a:r>
              <a:rPr sz="4400" spc="-145" dirty="0"/>
              <a:t> </a:t>
            </a:r>
            <a:r>
              <a:rPr sz="4400" spc="-10" dirty="0"/>
              <a:t>Установить</a:t>
            </a:r>
            <a:r>
              <a:rPr sz="4400" spc="-65" dirty="0"/>
              <a:t> </a:t>
            </a:r>
            <a:r>
              <a:rPr sz="4400" spc="-10" dirty="0"/>
              <a:t>правила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876706" y="1650568"/>
            <a:ext cx="535622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303030"/>
                </a:solidFill>
                <a:latin typeface="Arial"/>
                <a:cs typeface="Arial"/>
              </a:rPr>
              <a:t>Индивидуальная</a:t>
            </a:r>
            <a:r>
              <a:rPr sz="2800" b="1" spc="-8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303030"/>
                </a:solidFill>
                <a:latin typeface="Arial"/>
                <a:cs typeface="Arial"/>
              </a:rPr>
              <a:t>диагностика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92" y="1772411"/>
            <a:ext cx="252984" cy="2499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5611" y="2593749"/>
            <a:ext cx="7833995" cy="1663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«У</a:t>
            </a:r>
            <a:r>
              <a:rPr sz="1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нас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вами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будет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45</a:t>
            </a:r>
            <a:r>
              <a:rPr sz="16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минут,</a:t>
            </a:r>
            <a:r>
              <a:rPr sz="16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моя</a:t>
            </a:r>
            <a:r>
              <a:rPr sz="16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цель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415" dirty="0">
                <a:solidFill>
                  <a:srgbClr val="303030"/>
                </a:solidFill>
                <a:latin typeface="Microsoft Sans Serif"/>
                <a:cs typeface="Microsoft Sans Serif"/>
              </a:rPr>
              <a:t>–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дать</a:t>
            </a:r>
            <a:r>
              <a:rPr sz="1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рекомендации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16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части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650" dirty="0">
                <a:solidFill>
                  <a:srgbClr val="303030"/>
                </a:solidFill>
                <a:latin typeface="Microsoft Sans Serif"/>
                <a:cs typeface="Microsoft Sans Serif"/>
              </a:rPr>
              <a:t>…</a:t>
            </a:r>
            <a:endParaRPr sz="1600">
              <a:latin typeface="Microsoft Sans Serif"/>
              <a:cs typeface="Microsoft Sans Serif"/>
            </a:endParaRPr>
          </a:p>
          <a:p>
            <a:pPr marL="12700" marR="1744980">
              <a:lnSpc>
                <a:spcPct val="116300"/>
              </a:lnSpc>
            </a:pP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Первые</a:t>
            </a:r>
            <a:r>
              <a:rPr sz="1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20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минут</a:t>
            </a:r>
            <a:r>
              <a:rPr sz="1600" spc="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я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сделаю</a:t>
            </a:r>
            <a:r>
              <a:rPr sz="1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несколько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упражнений</a:t>
            </a:r>
            <a:r>
              <a:rPr sz="16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1600" spc="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ребенком Далее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1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течение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10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я</a:t>
            </a:r>
            <a:r>
              <a:rPr sz="16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задам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вам</a:t>
            </a:r>
            <a:r>
              <a:rPr sz="16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несколько</a:t>
            </a:r>
            <a:r>
              <a:rPr sz="16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вопросов</a:t>
            </a:r>
            <a:r>
              <a:rPr sz="16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р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ребенке.</a:t>
            </a:r>
            <a:endParaRPr sz="1600">
              <a:latin typeface="Microsoft Sans Serif"/>
              <a:cs typeface="Microsoft Sans Serif"/>
            </a:endParaRPr>
          </a:p>
          <a:p>
            <a:pPr marL="12700" marR="5080">
              <a:lnSpc>
                <a:spcPts val="1730"/>
              </a:lnSpc>
              <a:spcBef>
                <a:spcPts val="530"/>
              </a:spcBef>
            </a:pP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1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последние</a:t>
            </a:r>
            <a:r>
              <a:rPr sz="16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10-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15</a:t>
            </a:r>
            <a:r>
              <a:rPr sz="16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минут</a:t>
            </a:r>
            <a:r>
              <a:rPr sz="16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я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дам</a:t>
            </a:r>
            <a:r>
              <a:rPr sz="16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вам</a:t>
            </a:r>
            <a:r>
              <a:rPr sz="1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рекомендации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и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отвечу</a:t>
            </a:r>
            <a:r>
              <a:rPr sz="16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интересующие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вас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вопросы.</a:t>
            </a:r>
            <a:r>
              <a:rPr sz="16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16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16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примете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решение</a:t>
            </a:r>
            <a:r>
              <a:rPr sz="1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16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дальнейших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занятиях.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Подходит</a:t>
            </a:r>
            <a:r>
              <a:rPr sz="1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ли</a:t>
            </a:r>
            <a:r>
              <a:rPr sz="16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вам</a:t>
            </a:r>
            <a:r>
              <a:rPr sz="16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такой</a:t>
            </a:r>
            <a:r>
              <a:rPr sz="16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план?»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Шаг</a:t>
            </a:r>
            <a:r>
              <a:rPr sz="4400" spc="-130" dirty="0"/>
              <a:t> </a:t>
            </a:r>
            <a:r>
              <a:rPr sz="4400" dirty="0"/>
              <a:t>1.</a:t>
            </a:r>
            <a:r>
              <a:rPr sz="4400" spc="-145" dirty="0"/>
              <a:t> </a:t>
            </a:r>
            <a:r>
              <a:rPr sz="4400" spc="-10" dirty="0"/>
              <a:t>Установить</a:t>
            </a:r>
            <a:r>
              <a:rPr sz="4400" spc="-65" dirty="0"/>
              <a:t> </a:t>
            </a:r>
            <a:r>
              <a:rPr sz="4400" spc="-10" dirty="0"/>
              <a:t>правила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552" y="1772411"/>
            <a:ext cx="223793" cy="249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6706" y="1650568"/>
            <a:ext cx="8942070" cy="31661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1391920">
              <a:lnSpc>
                <a:spcPts val="3030"/>
              </a:lnSpc>
              <a:spcBef>
                <a:spcPts val="484"/>
              </a:spcBef>
            </a:pPr>
            <a:r>
              <a:rPr sz="2800" b="1" spc="-10" dirty="0">
                <a:solidFill>
                  <a:srgbClr val="303030"/>
                </a:solidFill>
                <a:latin typeface="Arial"/>
                <a:cs typeface="Arial"/>
              </a:rPr>
              <a:t>Мастер-</a:t>
            </a:r>
            <a:r>
              <a:rPr sz="2800" b="1" dirty="0">
                <a:solidFill>
                  <a:srgbClr val="303030"/>
                </a:solidFill>
                <a:latin typeface="Arial"/>
                <a:cs typeface="Arial"/>
              </a:rPr>
              <a:t>класс</a:t>
            </a:r>
            <a:r>
              <a:rPr sz="2800" b="1" spc="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03030"/>
                </a:solidFill>
                <a:latin typeface="Arial"/>
                <a:cs typeface="Arial"/>
              </a:rPr>
              <a:t>или</a:t>
            </a:r>
            <a:r>
              <a:rPr sz="2800" b="1" spc="-1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03030"/>
                </a:solidFill>
                <a:latin typeface="Arial"/>
                <a:cs typeface="Arial"/>
              </a:rPr>
              <a:t>пробный</a:t>
            </a:r>
            <a:r>
              <a:rPr sz="2800" b="1" spc="-2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03030"/>
                </a:solidFill>
                <a:latin typeface="Arial"/>
                <a:cs typeface="Arial"/>
              </a:rPr>
              <a:t>в </a:t>
            </a:r>
            <a:r>
              <a:rPr sz="2800" b="1" spc="-10" dirty="0">
                <a:solidFill>
                  <a:srgbClr val="303030"/>
                </a:solidFill>
                <a:latin typeface="Arial"/>
                <a:cs typeface="Arial"/>
              </a:rPr>
              <a:t>присутствии родителей.</a:t>
            </a:r>
            <a:endParaRPr sz="2800">
              <a:latin typeface="Arial"/>
              <a:cs typeface="Arial"/>
            </a:endParaRPr>
          </a:p>
          <a:p>
            <a:pPr marL="615315" indent="-145415">
              <a:lnSpc>
                <a:spcPct val="100000"/>
              </a:lnSpc>
              <a:spcBef>
                <a:spcPts val="1525"/>
              </a:spcBef>
              <a:buChar char="-"/>
              <a:tabLst>
                <a:tab pos="615315" algn="l"/>
              </a:tabLst>
            </a:pP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Проходите,</a:t>
            </a:r>
            <a:r>
              <a:rPr sz="19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садитесь</a:t>
            </a:r>
            <a:endParaRPr sz="1900">
              <a:latin typeface="Microsoft Sans Serif"/>
              <a:cs typeface="Microsoft Sans Serif"/>
            </a:endParaRPr>
          </a:p>
          <a:p>
            <a:pPr marL="615315" indent="-145415">
              <a:lnSpc>
                <a:spcPct val="100000"/>
              </a:lnSpc>
              <a:spcBef>
                <a:spcPts val="985"/>
              </a:spcBef>
              <a:buChar char="-"/>
              <a:tabLst>
                <a:tab pos="615315" algn="l"/>
              </a:tabLst>
            </a:pP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Сейчас</a:t>
            </a:r>
            <a:r>
              <a:rPr sz="19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будет</a:t>
            </a:r>
            <a:r>
              <a:rPr sz="1900" spc="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5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происходить…</a:t>
            </a:r>
            <a:r>
              <a:rPr sz="19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Это</a:t>
            </a:r>
            <a:r>
              <a:rPr sz="19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займет</a:t>
            </a:r>
            <a:endParaRPr sz="1900">
              <a:latin typeface="Microsoft Sans Serif"/>
              <a:cs typeface="Microsoft Sans Serif"/>
            </a:endParaRPr>
          </a:p>
          <a:p>
            <a:pPr marL="615315" indent="-145415">
              <a:lnSpc>
                <a:spcPct val="100000"/>
              </a:lnSpc>
              <a:spcBef>
                <a:spcPts val="770"/>
              </a:spcBef>
              <a:buChar char="-"/>
              <a:tabLst>
                <a:tab pos="615315" algn="l"/>
              </a:tabLst>
            </a:pP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Ваша</a:t>
            </a:r>
            <a:r>
              <a:rPr sz="19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7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задача…</a:t>
            </a:r>
            <a:endParaRPr sz="1900">
              <a:latin typeface="Microsoft Sans Serif"/>
              <a:cs typeface="Microsoft Sans Serif"/>
            </a:endParaRPr>
          </a:p>
          <a:p>
            <a:pPr marL="615315" indent="-145415">
              <a:lnSpc>
                <a:spcPct val="100000"/>
              </a:lnSpc>
              <a:spcBef>
                <a:spcPts val="765"/>
              </a:spcBef>
              <a:buChar char="-"/>
              <a:tabLst>
                <a:tab pos="615315" algn="l"/>
              </a:tabLst>
            </a:pPr>
            <a:r>
              <a:rPr sz="19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Затем</a:t>
            </a:r>
            <a:r>
              <a:rPr sz="19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я</a:t>
            </a:r>
            <a:r>
              <a:rPr sz="19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отпущу</a:t>
            </a:r>
            <a:r>
              <a:rPr sz="19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детей,</a:t>
            </a:r>
            <a:r>
              <a:rPr sz="19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а</a:t>
            </a:r>
            <a:r>
              <a:rPr sz="19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мы</a:t>
            </a:r>
            <a:r>
              <a:rPr sz="19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19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125" dirty="0">
                <a:solidFill>
                  <a:srgbClr val="303030"/>
                </a:solidFill>
                <a:latin typeface="Microsoft Sans Serif"/>
                <a:cs typeface="Microsoft Sans Serif"/>
              </a:rPr>
              <a:t>вами…</a:t>
            </a:r>
            <a:endParaRPr sz="1900">
              <a:latin typeface="Microsoft Sans Serif"/>
              <a:cs typeface="Microsoft Sans Serif"/>
            </a:endParaRPr>
          </a:p>
          <a:p>
            <a:pPr marL="615315" indent="-145415">
              <a:lnSpc>
                <a:spcPts val="2170"/>
              </a:lnSpc>
              <a:spcBef>
                <a:spcPts val="775"/>
              </a:spcBef>
              <a:buChar char="-"/>
              <a:tabLst>
                <a:tab pos="615315" algn="l"/>
                <a:tab pos="6871970" algn="l"/>
              </a:tabLst>
            </a:pP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19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конце</a:t>
            </a:r>
            <a:r>
              <a:rPr sz="19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занятия</a:t>
            </a:r>
            <a:r>
              <a:rPr sz="19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я</a:t>
            </a:r>
            <a:r>
              <a:rPr sz="19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дам</a:t>
            </a:r>
            <a:r>
              <a:rPr sz="19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рекомендации</a:t>
            </a: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каждому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	из</a:t>
            </a:r>
            <a:r>
              <a:rPr sz="19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вас</a:t>
            </a:r>
            <a:r>
              <a:rPr sz="19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</a:t>
            </a:r>
            <a:r>
              <a:rPr sz="19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группам.</a:t>
            </a:r>
            <a:endParaRPr sz="1900">
              <a:latin typeface="Microsoft Sans Serif"/>
              <a:cs typeface="Microsoft Sans Serif"/>
            </a:endParaRPr>
          </a:p>
          <a:p>
            <a:pPr marL="469900">
              <a:lnSpc>
                <a:spcPts val="2170"/>
              </a:lnSpc>
              <a:tabLst>
                <a:tab pos="3213735" algn="l"/>
              </a:tabLst>
            </a:pP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19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19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сможете</a:t>
            </a:r>
            <a:r>
              <a:rPr sz="1900" spc="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принять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	решение</a:t>
            </a:r>
            <a:r>
              <a:rPr sz="19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19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посещении</a:t>
            </a:r>
            <a:r>
              <a:rPr sz="19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занятий.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84429"/>
            <a:ext cx="7598409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Шаг</a:t>
            </a:r>
            <a:r>
              <a:rPr sz="4400" spc="-130" dirty="0"/>
              <a:t> </a:t>
            </a:r>
            <a:r>
              <a:rPr sz="4400" dirty="0"/>
              <a:t>1.</a:t>
            </a:r>
            <a:r>
              <a:rPr sz="4400" spc="-145" dirty="0"/>
              <a:t> </a:t>
            </a:r>
            <a:r>
              <a:rPr sz="4400" spc="-10" dirty="0"/>
              <a:t>Установить</a:t>
            </a:r>
            <a:r>
              <a:rPr sz="4400" spc="-65" dirty="0"/>
              <a:t> </a:t>
            </a:r>
            <a:r>
              <a:rPr sz="4400" spc="-10" dirty="0"/>
              <a:t>правила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552" y="1772411"/>
            <a:ext cx="223793" cy="249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6706" y="1498289"/>
            <a:ext cx="8800465" cy="310896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Мастер-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класс</a:t>
            </a:r>
            <a:r>
              <a:rPr sz="2800" spc="6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или</a:t>
            </a:r>
            <a:r>
              <a:rPr sz="28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пробный</a:t>
            </a:r>
            <a:r>
              <a:rPr sz="28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без</a:t>
            </a:r>
            <a:r>
              <a:rPr sz="2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родителей.</a:t>
            </a:r>
            <a:endParaRPr sz="2800">
              <a:latin typeface="Microsoft Sans Serif"/>
              <a:cs typeface="Microsoft Sans Serif"/>
            </a:endParaRPr>
          </a:p>
          <a:p>
            <a:pPr marL="88900">
              <a:lnSpc>
                <a:spcPct val="100000"/>
              </a:lnSpc>
              <a:spcBef>
                <a:spcPts val="805"/>
              </a:spcBef>
            </a:pP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19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коридоре, до</a:t>
            </a:r>
            <a:r>
              <a:rPr sz="19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старта: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Сейчас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будет</a:t>
            </a:r>
            <a:r>
              <a:rPr sz="18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проходить</a:t>
            </a:r>
            <a:r>
              <a:rPr sz="18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775" dirty="0">
                <a:solidFill>
                  <a:srgbClr val="303030"/>
                </a:solidFill>
                <a:latin typeface="Microsoft Sans Serif"/>
                <a:cs typeface="Microsoft Sans Serif"/>
              </a:rPr>
              <a:t>…</a:t>
            </a:r>
            <a:r>
              <a:rPr sz="18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,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18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котором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225" dirty="0">
                <a:solidFill>
                  <a:srgbClr val="303030"/>
                </a:solidFill>
                <a:latin typeface="Microsoft Sans Serif"/>
                <a:cs typeface="Microsoft Sans Serif"/>
              </a:rPr>
              <a:t>мы…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25"/>
              </a:spcBef>
              <a:buClr>
                <a:srgbClr val="303030"/>
              </a:buClr>
              <a:buFont typeface="Microsoft Sans Serif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240029" marR="5080" indent="-227965">
              <a:lnSpc>
                <a:spcPts val="1939"/>
              </a:lnSpc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Жду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вас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ровно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через</a:t>
            </a:r>
            <a:r>
              <a:rPr sz="18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775" dirty="0">
                <a:solidFill>
                  <a:srgbClr val="303030"/>
                </a:solidFill>
                <a:latin typeface="Microsoft Sans Serif"/>
                <a:cs typeface="Microsoft Sans Serif"/>
              </a:rPr>
              <a:t>…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минут,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чтобы</a:t>
            </a:r>
            <a:r>
              <a:rPr sz="18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рассказать</a:t>
            </a:r>
            <a:r>
              <a:rPr sz="18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об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организационных</a:t>
            </a:r>
            <a:r>
              <a:rPr sz="1800" spc="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моментах 	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18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целом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18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курсе.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80"/>
              </a:spcBef>
              <a:buClr>
                <a:srgbClr val="303030"/>
              </a:buClr>
              <a:buFont typeface="Microsoft Sans Serif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18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сможете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принять</a:t>
            </a:r>
            <a:r>
              <a:rPr sz="18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решение</a:t>
            </a:r>
            <a:r>
              <a:rPr sz="18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посещении</a:t>
            </a:r>
            <a:r>
              <a:rPr sz="1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курса.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20720" y="3508959"/>
            <a:ext cx="663575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Выявляем</a:t>
            </a:r>
            <a:r>
              <a:rPr sz="4400" spc="-275" dirty="0"/>
              <a:t> </a:t>
            </a:r>
            <a:r>
              <a:rPr sz="4400" spc="-20" dirty="0"/>
              <a:t>потребность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1593441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1006" y="456945"/>
            <a:ext cx="5880735" cy="9512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25"/>
              </a:spcBef>
            </a:pPr>
            <a:r>
              <a:rPr dirty="0"/>
              <a:t>Шаг</a:t>
            </a:r>
            <a:r>
              <a:rPr spc="-10" dirty="0"/>
              <a:t> </a:t>
            </a:r>
            <a:r>
              <a:rPr dirty="0"/>
              <a:t>2.</a:t>
            </a:r>
            <a:r>
              <a:rPr spc="-105" dirty="0"/>
              <a:t> </a:t>
            </a:r>
            <a:r>
              <a:rPr dirty="0"/>
              <a:t>Выявить</a:t>
            </a:r>
            <a:r>
              <a:rPr spc="-60" dirty="0"/>
              <a:t> </a:t>
            </a:r>
            <a:r>
              <a:rPr spc="-20" dirty="0"/>
              <a:t>потребность </a:t>
            </a:r>
            <a:r>
              <a:rPr dirty="0"/>
              <a:t>и</a:t>
            </a:r>
            <a:r>
              <a:rPr spc="-5" dirty="0"/>
              <a:t> </a:t>
            </a:r>
            <a:r>
              <a:rPr spc="-20" dirty="0"/>
              <a:t>цель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400" y="2255901"/>
            <a:ext cx="191437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400" y="2612517"/>
            <a:ext cx="191437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400" y="2969132"/>
            <a:ext cx="191437" cy="2133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400" y="4261484"/>
            <a:ext cx="191437" cy="2133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400" y="4910709"/>
            <a:ext cx="191437" cy="2133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1006" y="1731721"/>
            <a:ext cx="8809355" cy="34690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35"/>
              </a:lnSpc>
              <a:spcBef>
                <a:spcPts val="110"/>
              </a:spcBef>
            </a:pP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2800" spc="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любом</a:t>
            </a:r>
            <a:r>
              <a:rPr sz="2800" spc="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виде</a:t>
            </a:r>
            <a:r>
              <a:rPr sz="2800" spc="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занятий</a:t>
            </a:r>
            <a:endParaRPr sz="2800">
              <a:latin typeface="Microsoft Sans Serif"/>
              <a:cs typeface="Microsoft Sans Serif"/>
            </a:endParaRPr>
          </a:p>
          <a:p>
            <a:pPr marL="783590" marR="913765">
              <a:lnSpc>
                <a:spcPts val="2810"/>
              </a:lnSpc>
              <a:spcBef>
                <a:spcPts val="125"/>
              </a:spcBef>
            </a:pPr>
            <a:r>
              <a:rPr sz="24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Расскажите,</a:t>
            </a:r>
            <a:r>
              <a:rPr sz="2400" spc="-114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пожалуйста,</a:t>
            </a:r>
            <a:r>
              <a:rPr sz="24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откуда</a:t>
            </a:r>
            <a:r>
              <a:rPr sz="24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24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24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нас</a:t>
            </a:r>
            <a:r>
              <a:rPr sz="24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узнали? </a:t>
            </a:r>
            <a:r>
              <a:rPr sz="24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Кто-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то</a:t>
            </a:r>
            <a:r>
              <a:rPr sz="24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вам</a:t>
            </a:r>
            <a:r>
              <a:rPr sz="24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нас</a:t>
            </a:r>
            <a:r>
              <a:rPr sz="24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порекомендовал?</a:t>
            </a:r>
            <a:endParaRPr sz="2400">
              <a:latin typeface="Microsoft Sans Serif"/>
              <a:cs typeface="Microsoft Sans Serif"/>
            </a:endParaRPr>
          </a:p>
          <a:p>
            <a:pPr marL="783590">
              <a:lnSpc>
                <a:spcPts val="2725"/>
              </a:lnSpc>
            </a:pP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24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24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уже</a:t>
            </a:r>
            <a:r>
              <a:rPr sz="24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знаете</a:t>
            </a:r>
            <a:r>
              <a:rPr sz="24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24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курсе?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ts val="3335"/>
              </a:lnSpc>
            </a:pP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</a:t>
            </a:r>
            <a:r>
              <a:rPr sz="28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индивидуальном</a:t>
            </a:r>
            <a:r>
              <a:rPr sz="2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общении</a:t>
            </a:r>
            <a:endParaRPr sz="2800">
              <a:latin typeface="Microsoft Sans Serif"/>
              <a:cs typeface="Microsoft Sans Serif"/>
            </a:endParaRPr>
          </a:p>
          <a:p>
            <a:pPr marL="698500" marR="5080" indent="85090">
              <a:lnSpc>
                <a:spcPts val="2300"/>
              </a:lnSpc>
              <a:spcBef>
                <a:spcPts val="535"/>
              </a:spcBef>
            </a:pP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Беспокоит</a:t>
            </a:r>
            <a:r>
              <a:rPr sz="24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ли</a:t>
            </a:r>
            <a:r>
              <a:rPr sz="24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вас</a:t>
            </a:r>
            <a:r>
              <a:rPr sz="24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что-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то?</a:t>
            </a:r>
            <a:r>
              <a:rPr sz="24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Есть</a:t>
            </a:r>
            <a:r>
              <a:rPr sz="24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ли</a:t>
            </a:r>
            <a:r>
              <a:rPr sz="2400" spc="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какие-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то</a:t>
            </a:r>
            <a:r>
              <a:rPr sz="24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особенности, </a:t>
            </a:r>
            <a:r>
              <a:rPr sz="24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которые</a:t>
            </a:r>
            <a:r>
              <a:rPr sz="24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мне</a:t>
            </a:r>
            <a:r>
              <a:rPr sz="24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стоит</a:t>
            </a:r>
            <a:r>
              <a:rPr sz="24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знать?</a:t>
            </a:r>
            <a:endParaRPr sz="2400">
              <a:latin typeface="Microsoft Sans Serif"/>
              <a:cs typeface="Microsoft Sans Serif"/>
            </a:endParaRPr>
          </a:p>
          <a:p>
            <a:pPr marL="783590">
              <a:lnSpc>
                <a:spcPts val="2835"/>
              </a:lnSpc>
            </a:pP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Ставите</a:t>
            </a:r>
            <a:r>
              <a:rPr sz="24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ли</a:t>
            </a:r>
            <a:r>
              <a:rPr sz="24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24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перед</a:t>
            </a:r>
            <a:r>
              <a:rPr sz="24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собой</a:t>
            </a:r>
            <a:r>
              <a:rPr sz="24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какую-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то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конкретную</a:t>
            </a:r>
            <a:r>
              <a:rPr sz="24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цель?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20720" y="2905201"/>
            <a:ext cx="6075680" cy="129921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695"/>
              </a:spcBef>
            </a:pPr>
            <a:r>
              <a:rPr sz="4400" spc="-20" dirty="0"/>
              <a:t>Впечатляем</a:t>
            </a:r>
            <a:r>
              <a:rPr sz="4400" spc="-114" dirty="0"/>
              <a:t> </a:t>
            </a:r>
            <a:r>
              <a:rPr sz="4400" dirty="0"/>
              <a:t>во</a:t>
            </a:r>
            <a:r>
              <a:rPr sz="4400" spc="-185" dirty="0"/>
              <a:t> </a:t>
            </a:r>
            <a:r>
              <a:rPr sz="4400" spc="-10" dirty="0"/>
              <a:t>время занятия</a:t>
            </a:r>
            <a:endParaRPr sz="4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221185"/>
            <a:ext cx="8011490" cy="1230045"/>
          </a:xfrm>
          <a:prstGeom prst="rect">
            <a:avLst/>
          </a:prstGeom>
        </p:spPr>
        <p:txBody>
          <a:bodyPr vert="horz" wrap="square" lIns="0" tIns="29438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Шаг</a:t>
            </a:r>
            <a:r>
              <a:rPr sz="4000" spc="-90" dirty="0"/>
              <a:t> </a:t>
            </a:r>
            <a:r>
              <a:rPr sz="4000" dirty="0"/>
              <a:t>3.</a:t>
            </a:r>
            <a:r>
              <a:rPr sz="4000" spc="-75" dirty="0"/>
              <a:t> </a:t>
            </a:r>
            <a:r>
              <a:rPr sz="4000" dirty="0"/>
              <a:t>Провести</a:t>
            </a:r>
            <a:r>
              <a:rPr sz="4000" spc="-35" dirty="0"/>
              <a:t> </a:t>
            </a:r>
            <a:r>
              <a:rPr sz="4000" spc="-10" dirty="0"/>
              <a:t>занятие</a:t>
            </a:r>
            <a:endParaRPr sz="4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2146173"/>
            <a:ext cx="169867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2423541"/>
            <a:ext cx="169867" cy="176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2700908"/>
            <a:ext cx="169867" cy="1767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2978276"/>
            <a:ext cx="169867" cy="1767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3255645"/>
            <a:ext cx="169867" cy="1767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4127372"/>
            <a:ext cx="169867" cy="1767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4618101"/>
            <a:ext cx="169867" cy="1767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4895469"/>
            <a:ext cx="169867" cy="1767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5172836"/>
            <a:ext cx="169867" cy="17678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525" y="5450192"/>
            <a:ext cx="169867" cy="17678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91006" y="1716481"/>
            <a:ext cx="9136380" cy="4187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70"/>
              </a:lnSpc>
              <a:spcBef>
                <a:spcPts val="100"/>
              </a:spcBef>
            </a:pPr>
            <a:r>
              <a:rPr sz="2400" b="1" dirty="0">
                <a:solidFill>
                  <a:srgbClr val="303030"/>
                </a:solidFill>
                <a:latin typeface="Arial"/>
                <a:cs typeface="Arial"/>
              </a:rPr>
              <a:t>На</a:t>
            </a:r>
            <a:r>
              <a:rPr sz="2400" b="1" spc="-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303030"/>
                </a:solidFill>
                <a:latin typeface="Arial"/>
                <a:cs typeface="Arial"/>
              </a:rPr>
              <a:t>мастер-</a:t>
            </a:r>
            <a:r>
              <a:rPr sz="2400" b="1" dirty="0">
                <a:solidFill>
                  <a:srgbClr val="303030"/>
                </a:solidFill>
                <a:latin typeface="Arial"/>
                <a:cs typeface="Arial"/>
              </a:rPr>
              <a:t>классе</a:t>
            </a:r>
            <a:r>
              <a:rPr sz="2400" b="1" spc="-3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03030"/>
                </a:solidFill>
                <a:latin typeface="Arial"/>
                <a:cs typeface="Arial"/>
              </a:rPr>
              <a:t>мы</a:t>
            </a:r>
            <a:r>
              <a:rPr sz="2400" b="1" spc="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03030"/>
                </a:solidFill>
                <a:latin typeface="Arial"/>
                <a:cs typeface="Arial"/>
              </a:rPr>
              <a:t>стремимся</a:t>
            </a:r>
            <a:endParaRPr sz="2400" dirty="0">
              <a:latin typeface="Arial"/>
              <a:cs typeface="Arial"/>
            </a:endParaRPr>
          </a:p>
          <a:p>
            <a:pPr marL="698500">
              <a:lnSpc>
                <a:spcPts val="2180"/>
              </a:lnSpc>
            </a:pP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продемонстрировать</a:t>
            </a:r>
            <a:r>
              <a:rPr sz="2000" spc="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арсенал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красочных</a:t>
            </a:r>
            <a:r>
              <a:rPr sz="20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пособий</a:t>
            </a:r>
            <a:endParaRPr sz="2000" dirty="0">
              <a:latin typeface="Microsoft Sans Serif"/>
              <a:cs typeface="Microsoft Sans Serif"/>
            </a:endParaRPr>
          </a:p>
          <a:p>
            <a:pPr marL="698500">
              <a:lnSpc>
                <a:spcPts val="2185"/>
              </a:lnSpc>
            </a:pP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создать</a:t>
            </a:r>
            <a:r>
              <a:rPr sz="20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результат,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который</a:t>
            </a:r>
            <a:r>
              <a:rPr sz="20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сможем</a:t>
            </a:r>
            <a:r>
              <a:rPr sz="20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продемонстрировать</a:t>
            </a:r>
            <a:r>
              <a:rPr sz="20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сразу</a:t>
            </a:r>
            <a:r>
              <a:rPr sz="20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же</a:t>
            </a:r>
            <a:endParaRPr sz="2000" dirty="0">
              <a:latin typeface="Microsoft Sans Serif"/>
              <a:cs typeface="Microsoft Sans Serif"/>
            </a:endParaRPr>
          </a:p>
          <a:p>
            <a:pPr marL="698500">
              <a:lnSpc>
                <a:spcPts val="2185"/>
              </a:lnSpc>
            </a:pP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провести</a:t>
            </a:r>
            <a:r>
              <a:rPr sz="20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интересное</a:t>
            </a:r>
            <a:r>
              <a:rPr sz="2000" spc="-10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занятие</a:t>
            </a:r>
            <a:endParaRPr sz="2000" dirty="0">
              <a:latin typeface="Microsoft Sans Serif"/>
              <a:cs typeface="Microsoft Sans Serif"/>
            </a:endParaRPr>
          </a:p>
          <a:p>
            <a:pPr marL="698500">
              <a:lnSpc>
                <a:spcPts val="2185"/>
              </a:lnSpc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заинтересовать,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эмоционально</a:t>
            </a:r>
            <a:r>
              <a:rPr sz="20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вовлечь</a:t>
            </a:r>
            <a:r>
              <a:rPr sz="20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мам</a:t>
            </a:r>
            <a:r>
              <a:rPr sz="20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000" spc="-10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детей</a:t>
            </a:r>
            <a:endParaRPr sz="2000" dirty="0">
              <a:latin typeface="Microsoft Sans Serif"/>
              <a:cs typeface="Microsoft Sans Serif"/>
            </a:endParaRPr>
          </a:p>
          <a:p>
            <a:pPr marL="698500">
              <a:lnSpc>
                <a:spcPts val="1935"/>
              </a:lnSpc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заострить</a:t>
            </a:r>
            <a:r>
              <a:rPr sz="20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внимание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20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успехах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0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поведении</a:t>
            </a:r>
            <a:r>
              <a:rPr sz="20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каждого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ребенка,</a:t>
            </a:r>
            <a:endParaRPr sz="2000" dirty="0">
              <a:latin typeface="Microsoft Sans Serif"/>
              <a:cs typeface="Microsoft Sans Serif"/>
            </a:endParaRPr>
          </a:p>
          <a:p>
            <a:pPr marL="698500">
              <a:lnSpc>
                <a:spcPts val="2039"/>
              </a:lnSpc>
            </a:pPr>
            <a:r>
              <a:rPr lang="ru-RU"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</a:t>
            </a:r>
            <a:r>
              <a:rPr sz="2000" spc="-10" dirty="0" err="1">
                <a:solidFill>
                  <a:srgbClr val="303030"/>
                </a:solidFill>
                <a:latin typeface="Microsoft Sans Serif"/>
                <a:cs typeface="Microsoft Sans Serif"/>
              </a:rPr>
              <a:t>апомнить</a:t>
            </a:r>
            <a:r>
              <a:rPr lang="ru-RU"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и </a:t>
            </a:r>
            <a:r>
              <a:rPr sz="2000" dirty="0" err="1">
                <a:solidFill>
                  <a:srgbClr val="303030"/>
                </a:solidFill>
                <a:latin typeface="Microsoft Sans Serif"/>
                <a:cs typeface="Microsoft Sans Serif"/>
              </a:rPr>
              <a:t>впоследствии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обсудить</a:t>
            </a:r>
            <a:r>
              <a:rPr sz="20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20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мамами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ts val="2770"/>
              </a:lnSpc>
              <a:spcBef>
                <a:spcPts val="130"/>
              </a:spcBef>
            </a:pPr>
            <a:r>
              <a:rPr sz="2400" b="1" dirty="0">
                <a:solidFill>
                  <a:srgbClr val="303030"/>
                </a:solidFill>
                <a:latin typeface="Arial"/>
                <a:cs typeface="Arial"/>
              </a:rPr>
              <a:t>На</a:t>
            </a:r>
            <a:r>
              <a:rPr sz="2400" b="1" spc="-4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03030"/>
                </a:solidFill>
                <a:latin typeface="Arial"/>
                <a:cs typeface="Arial"/>
              </a:rPr>
              <a:t>пробном</a:t>
            </a:r>
            <a:r>
              <a:rPr sz="2400" b="1" spc="-4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03030"/>
                </a:solidFill>
                <a:latin typeface="Arial"/>
                <a:cs typeface="Arial"/>
              </a:rPr>
              <a:t>занятии</a:t>
            </a:r>
            <a:r>
              <a:rPr sz="2400" b="1" spc="-30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03030"/>
                </a:solidFill>
                <a:latin typeface="Arial"/>
                <a:cs typeface="Arial"/>
              </a:rPr>
              <a:t>мы</a:t>
            </a:r>
            <a:r>
              <a:rPr sz="2400" b="1" spc="-25" dirty="0">
                <a:solidFill>
                  <a:srgbClr val="30303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03030"/>
                </a:solidFill>
                <a:latin typeface="Arial"/>
                <a:cs typeface="Arial"/>
              </a:rPr>
              <a:t>стремимся</a:t>
            </a:r>
            <a:endParaRPr sz="2400" dirty="0">
              <a:latin typeface="Arial"/>
              <a:cs typeface="Arial"/>
            </a:endParaRPr>
          </a:p>
          <a:p>
            <a:pPr marL="698500" marR="5080">
              <a:lnSpc>
                <a:spcPct val="70000"/>
              </a:lnSpc>
              <a:spcBef>
                <a:spcPts val="610"/>
              </a:spcBef>
            </a:pP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вовлечь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ребенка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во</a:t>
            </a:r>
            <a:r>
              <a:rPr sz="20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взаимодействие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20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существующей</a:t>
            </a:r>
            <a:r>
              <a:rPr sz="2000" spc="-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группой, сделать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его</a:t>
            </a:r>
            <a:r>
              <a:rPr sz="20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частью</a:t>
            </a:r>
            <a:r>
              <a:rPr sz="20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«команды»</a:t>
            </a:r>
            <a:endParaRPr sz="2000" dirty="0">
              <a:latin typeface="Microsoft Sans Serif"/>
              <a:cs typeface="Microsoft Sans Serif"/>
            </a:endParaRPr>
          </a:p>
          <a:p>
            <a:pPr marL="698500">
              <a:lnSpc>
                <a:spcPts val="2075"/>
              </a:lnSpc>
            </a:pP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оценить</a:t>
            </a:r>
            <a:r>
              <a:rPr sz="20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соответствие</a:t>
            </a:r>
            <a:r>
              <a:rPr sz="20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ребенка</a:t>
            </a:r>
            <a:r>
              <a:rPr sz="20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уровню</a:t>
            </a:r>
            <a:r>
              <a:rPr sz="20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группы</a:t>
            </a:r>
            <a:endParaRPr sz="2000" dirty="0">
              <a:latin typeface="Microsoft Sans Serif"/>
              <a:cs typeface="Microsoft Sans Serif"/>
            </a:endParaRPr>
          </a:p>
          <a:p>
            <a:pPr marL="698500">
              <a:lnSpc>
                <a:spcPts val="2185"/>
              </a:lnSpc>
            </a:pP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продемонстрировать</a:t>
            </a:r>
            <a:r>
              <a:rPr sz="2000" spc="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маме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ход</a:t>
            </a:r>
            <a:r>
              <a:rPr sz="20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занятия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если</a:t>
            </a:r>
            <a:r>
              <a:rPr sz="20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она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присутствует</a:t>
            </a:r>
            <a:endParaRPr sz="2000" dirty="0">
              <a:latin typeface="Microsoft Sans Serif"/>
              <a:cs typeface="Microsoft Sans Serif"/>
            </a:endParaRPr>
          </a:p>
          <a:p>
            <a:pPr marL="698500">
              <a:lnSpc>
                <a:spcPts val="2185"/>
              </a:lnSpc>
            </a:pPr>
            <a:r>
              <a:rPr sz="20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показать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образовательную</a:t>
            </a:r>
            <a:r>
              <a:rPr sz="2000" spc="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составляющую</a:t>
            </a:r>
            <a:r>
              <a:rPr sz="2000" spc="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20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том</a:t>
            </a:r>
            <a:r>
              <a:rPr sz="20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числе</a:t>
            </a:r>
            <a:endParaRPr sz="2000" dirty="0">
              <a:latin typeface="Microsoft Sans Serif"/>
              <a:cs typeface="Microsoft Sans Serif"/>
            </a:endParaRPr>
          </a:p>
          <a:p>
            <a:pPr marL="698500" marR="226060">
              <a:lnSpc>
                <a:spcPct val="70000"/>
              </a:lnSpc>
              <a:spcBef>
                <a:spcPts val="610"/>
              </a:spcBef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запомнить</a:t>
            </a:r>
            <a:r>
              <a:rPr sz="20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как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0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делал</a:t>
            </a:r>
            <a:r>
              <a:rPr sz="20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ребенок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процессе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занятия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для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обратной связи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09600"/>
            <a:ext cx="572071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Касания</a:t>
            </a:r>
            <a:r>
              <a:rPr sz="4000" spc="-10" dirty="0"/>
              <a:t> </a:t>
            </a:r>
            <a:r>
              <a:rPr sz="4000" dirty="0"/>
              <a:t>«на</a:t>
            </a:r>
            <a:r>
              <a:rPr sz="4000" spc="25" dirty="0"/>
              <a:t> </a:t>
            </a:r>
            <a:r>
              <a:rPr sz="4000" spc="-10" dirty="0"/>
              <a:t>будущее»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991006" y="2252220"/>
            <a:ext cx="9092565" cy="30486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2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занятии</a:t>
            </a:r>
            <a:r>
              <a:rPr sz="28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</a:t>
            </a:r>
            <a:r>
              <a:rPr sz="2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общении</a:t>
            </a:r>
            <a:r>
              <a:rPr sz="28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2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детьми</a:t>
            </a:r>
            <a:r>
              <a:rPr sz="2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мы</a:t>
            </a:r>
            <a:endParaRPr sz="2800">
              <a:latin typeface="Microsoft Sans Serif"/>
              <a:cs typeface="Microsoft Sans Serif"/>
            </a:endParaRPr>
          </a:p>
          <a:p>
            <a:pPr marL="698500" marR="5080" indent="-228600">
              <a:lnSpc>
                <a:spcPct val="90100"/>
              </a:lnSpc>
              <a:spcBef>
                <a:spcPts val="520"/>
              </a:spcBef>
              <a:buChar char="•"/>
              <a:tabLst>
                <a:tab pos="698500" algn="l"/>
              </a:tabLst>
            </a:pPr>
            <a:r>
              <a:rPr sz="24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Говорим</a:t>
            </a:r>
            <a:r>
              <a:rPr sz="24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24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детьми</a:t>
            </a:r>
            <a:r>
              <a:rPr sz="24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24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будущем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«а</a:t>
            </a:r>
            <a:r>
              <a:rPr sz="24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это</a:t>
            </a:r>
            <a:r>
              <a:rPr sz="24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мы</a:t>
            </a:r>
            <a:r>
              <a:rPr sz="24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будем</a:t>
            </a:r>
            <a:r>
              <a:rPr sz="24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делать</a:t>
            </a:r>
            <a:r>
              <a:rPr sz="24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на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следующем</a:t>
            </a:r>
            <a:r>
              <a:rPr sz="24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занятии»</a:t>
            </a:r>
            <a:r>
              <a:rPr sz="24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или</a:t>
            </a:r>
            <a:r>
              <a:rPr sz="24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«вот</a:t>
            </a:r>
            <a:r>
              <a:rPr sz="24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когда</a:t>
            </a:r>
            <a:r>
              <a:rPr sz="24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у</a:t>
            </a:r>
            <a:r>
              <a:rPr sz="24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нас</a:t>
            </a:r>
            <a:r>
              <a:rPr sz="24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будет</a:t>
            </a:r>
            <a:r>
              <a:rPr sz="24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хеллоуин, </a:t>
            </a:r>
            <a:r>
              <a:rPr sz="2400" spc="215" dirty="0">
                <a:solidFill>
                  <a:srgbClr val="303030"/>
                </a:solidFill>
                <a:latin typeface="Microsoft Sans Serif"/>
                <a:cs typeface="Microsoft Sans Serif"/>
              </a:rPr>
              <a:t>мы…»</a:t>
            </a:r>
            <a:endParaRPr sz="2400">
              <a:latin typeface="Microsoft Sans Serif"/>
              <a:cs typeface="Microsoft Sans Serif"/>
            </a:endParaRPr>
          </a:p>
          <a:p>
            <a:pPr marL="697865" indent="-227965">
              <a:lnSpc>
                <a:spcPct val="100000"/>
              </a:lnSpc>
              <a:spcBef>
                <a:spcPts val="215"/>
              </a:spcBef>
              <a:buChar char="•"/>
              <a:tabLst>
                <a:tab pos="697865" algn="l"/>
              </a:tabLst>
            </a:pPr>
            <a:r>
              <a:rPr sz="24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Даем</a:t>
            </a:r>
            <a:r>
              <a:rPr sz="24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домашнюю</a:t>
            </a:r>
            <a:r>
              <a:rPr sz="24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работу,</a:t>
            </a:r>
            <a:r>
              <a:rPr sz="24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которую</a:t>
            </a:r>
            <a:r>
              <a:rPr sz="24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24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будете</a:t>
            </a:r>
            <a:r>
              <a:rPr sz="24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ждать</a:t>
            </a:r>
            <a:endParaRPr sz="2400">
              <a:latin typeface="Microsoft Sans Serif"/>
              <a:cs typeface="Microsoft Sans Serif"/>
            </a:endParaRPr>
          </a:p>
          <a:p>
            <a:pPr marL="697865" indent="-227965">
              <a:lnSpc>
                <a:spcPct val="100000"/>
              </a:lnSpc>
              <a:spcBef>
                <a:spcPts val="195"/>
              </a:spcBef>
              <a:buChar char="•"/>
              <a:tabLst>
                <a:tab pos="697865" algn="l"/>
              </a:tabLst>
            </a:pP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Хвалим</a:t>
            </a:r>
            <a:r>
              <a:rPr sz="24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4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поощряем</a:t>
            </a:r>
            <a:r>
              <a:rPr sz="24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детей</a:t>
            </a:r>
            <a:endParaRPr sz="2400">
              <a:latin typeface="Microsoft Sans Serif"/>
              <a:cs typeface="Microsoft Sans Serif"/>
            </a:endParaRPr>
          </a:p>
          <a:p>
            <a:pPr marL="698500" marR="1082675" indent="-228600">
              <a:lnSpc>
                <a:spcPts val="2590"/>
              </a:lnSpc>
              <a:spcBef>
                <a:spcPts val="545"/>
              </a:spcBef>
              <a:buChar char="•"/>
              <a:tabLst>
                <a:tab pos="698500" algn="l"/>
              </a:tabLst>
            </a:pP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Стремимся,</a:t>
            </a:r>
            <a:r>
              <a:rPr sz="24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чтобы</a:t>
            </a:r>
            <a:r>
              <a:rPr sz="24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они</a:t>
            </a:r>
            <a:r>
              <a:rPr sz="24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унесли</a:t>
            </a:r>
            <a:r>
              <a:rPr sz="24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какой-</a:t>
            </a:r>
            <a:r>
              <a:rPr sz="2400" dirty="0">
                <a:solidFill>
                  <a:srgbClr val="303030"/>
                </a:solidFill>
                <a:latin typeface="Microsoft Sans Serif"/>
                <a:cs typeface="Microsoft Sans Serif"/>
              </a:rPr>
              <a:t>то</a:t>
            </a:r>
            <a:r>
              <a:rPr sz="24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конкретный </a:t>
            </a:r>
            <a:r>
              <a:rPr sz="24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результат,</a:t>
            </a:r>
            <a:r>
              <a:rPr sz="24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которым</a:t>
            </a:r>
            <a:r>
              <a:rPr sz="24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можно</a:t>
            </a:r>
            <a:r>
              <a:rPr sz="24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хвастаться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20720" y="3508959"/>
            <a:ext cx="610235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Даём</a:t>
            </a:r>
            <a:r>
              <a:rPr sz="4400" spc="-185" dirty="0"/>
              <a:t> </a:t>
            </a:r>
            <a:r>
              <a:rPr sz="4400" dirty="0"/>
              <a:t>обратную</a:t>
            </a:r>
            <a:r>
              <a:rPr sz="4400" spc="-100" dirty="0"/>
              <a:t> </a:t>
            </a:r>
            <a:r>
              <a:rPr sz="4400" spc="-10" dirty="0"/>
              <a:t>связь</a:t>
            </a:r>
            <a:endParaRPr sz="4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5155" y="328930"/>
            <a:ext cx="7169150" cy="118554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50"/>
              </a:spcBef>
            </a:pPr>
            <a:r>
              <a:rPr sz="4000" dirty="0"/>
              <a:t>Шаг</a:t>
            </a:r>
            <a:r>
              <a:rPr sz="4000" spc="-80" dirty="0"/>
              <a:t> </a:t>
            </a:r>
            <a:r>
              <a:rPr sz="4000" dirty="0"/>
              <a:t>4.</a:t>
            </a:r>
            <a:r>
              <a:rPr sz="4000" spc="-70" dirty="0"/>
              <a:t> </a:t>
            </a:r>
            <a:r>
              <a:rPr sz="4000" dirty="0"/>
              <a:t>Дать</a:t>
            </a:r>
            <a:r>
              <a:rPr sz="4000" spc="10" dirty="0"/>
              <a:t> </a:t>
            </a:r>
            <a:r>
              <a:rPr sz="4000" dirty="0"/>
              <a:t>обратную</a:t>
            </a:r>
            <a:r>
              <a:rPr sz="4000" spc="20" dirty="0"/>
              <a:t> </a:t>
            </a:r>
            <a:r>
              <a:rPr sz="4000" spc="-10" dirty="0"/>
              <a:t>связь </a:t>
            </a:r>
            <a:r>
              <a:rPr sz="4000" dirty="0"/>
              <a:t>о </a:t>
            </a:r>
            <a:r>
              <a:rPr sz="4000" spc="-10" dirty="0"/>
              <a:t>детях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152" y="2376677"/>
            <a:ext cx="145600" cy="1615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152" y="3123438"/>
            <a:ext cx="145600" cy="161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152" y="3870197"/>
            <a:ext cx="145600" cy="1615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10461" y="2294585"/>
            <a:ext cx="8740775" cy="254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Похвалить</a:t>
            </a:r>
            <a:r>
              <a:rPr sz="18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детей.</a:t>
            </a:r>
            <a:r>
              <a:rPr sz="18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Привести</a:t>
            </a:r>
            <a:r>
              <a:rPr sz="18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конкретные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примеры,</a:t>
            </a:r>
            <a:r>
              <a:rPr sz="1800" spc="-1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где</a:t>
            </a:r>
            <a:r>
              <a:rPr sz="1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дети</a:t>
            </a:r>
            <a:r>
              <a:rPr sz="18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хорошо</a:t>
            </a:r>
            <a:r>
              <a:rPr sz="18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себя</a:t>
            </a:r>
            <a:r>
              <a:rPr sz="18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показали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Отметить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хорошие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моменты</a:t>
            </a:r>
            <a:r>
              <a:rPr sz="1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</a:t>
            </a:r>
            <a:r>
              <a:rPr sz="18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каждого</a:t>
            </a:r>
            <a:r>
              <a:rPr sz="18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ребенка.</a:t>
            </a:r>
            <a:r>
              <a:rPr sz="18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Даже</a:t>
            </a:r>
            <a:r>
              <a:rPr sz="18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если</a:t>
            </a:r>
            <a:r>
              <a:rPr sz="18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мама</a:t>
            </a:r>
            <a:r>
              <a:rPr sz="18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это</a:t>
            </a:r>
            <a:r>
              <a:rPr sz="1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видела.</a:t>
            </a:r>
            <a:endParaRPr sz="1800">
              <a:latin typeface="Microsoft Sans Serif"/>
              <a:cs typeface="Microsoft Sans Serif"/>
            </a:endParaRPr>
          </a:p>
          <a:p>
            <a:pPr marL="12700" marR="1054100">
              <a:lnSpc>
                <a:spcPts val="5910"/>
              </a:lnSpc>
              <a:spcBef>
                <a:spcPts val="600"/>
              </a:spcBef>
            </a:pP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Обозначить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зоны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развития,</a:t>
            </a:r>
            <a:r>
              <a:rPr sz="1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над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чем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надо</a:t>
            </a:r>
            <a:r>
              <a:rPr sz="1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работать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18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целом</a:t>
            </a:r>
            <a:r>
              <a:rPr sz="1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всей</a:t>
            </a:r>
            <a:r>
              <a:rPr sz="18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группе 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Дать</a:t>
            </a:r>
            <a:r>
              <a:rPr sz="1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понять,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18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знаете,</a:t>
            </a:r>
            <a:r>
              <a:rPr sz="18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18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r>
              <a:rPr sz="18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303030"/>
                </a:solidFill>
                <a:latin typeface="Microsoft Sans Serif"/>
                <a:cs typeface="Microsoft Sans Serif"/>
              </a:rPr>
              <a:t>этим</a:t>
            </a:r>
            <a:r>
              <a:rPr sz="18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делать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152" y="4620005"/>
            <a:ext cx="145600" cy="1615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1664" y="3048076"/>
            <a:ext cx="6472555" cy="129921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>
              <a:lnSpc>
                <a:spcPts val="4760"/>
              </a:lnSpc>
              <a:spcBef>
                <a:spcPts val="685"/>
              </a:spcBef>
            </a:pPr>
            <a:r>
              <a:rPr sz="4400" spc="-10" dirty="0"/>
              <a:t>Рассказываем</a:t>
            </a:r>
            <a:r>
              <a:rPr sz="4400" spc="-150" dirty="0"/>
              <a:t> </a:t>
            </a:r>
            <a:r>
              <a:rPr sz="4400" dirty="0"/>
              <a:t>о</a:t>
            </a:r>
            <a:r>
              <a:rPr sz="4400" spc="-160" dirty="0"/>
              <a:t> </a:t>
            </a:r>
            <a:r>
              <a:rPr sz="4400" spc="-10" dirty="0"/>
              <a:t>самом курсе</a:t>
            </a:r>
            <a:endParaRPr sz="4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485" rIns="0" bIns="0" rtlCol="0">
            <a:spAutoFit/>
          </a:bodyPr>
          <a:lstStyle/>
          <a:p>
            <a:pPr marL="438784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Шаг</a:t>
            </a:r>
            <a:r>
              <a:rPr sz="4000" spc="-45" dirty="0"/>
              <a:t> </a:t>
            </a:r>
            <a:r>
              <a:rPr sz="4000" dirty="0"/>
              <a:t>5.</a:t>
            </a:r>
            <a:r>
              <a:rPr sz="4000" spc="-30" dirty="0"/>
              <a:t> </a:t>
            </a:r>
            <a:r>
              <a:rPr sz="4000" dirty="0"/>
              <a:t>Описать</a:t>
            </a:r>
            <a:r>
              <a:rPr sz="4000" spc="10" dirty="0"/>
              <a:t> </a:t>
            </a:r>
            <a:r>
              <a:rPr sz="4000" spc="-55" dirty="0"/>
              <a:t>результаты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942" y="2153411"/>
            <a:ext cx="223793" cy="2499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942" y="3049523"/>
            <a:ext cx="223793" cy="249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942" y="3561588"/>
            <a:ext cx="223793" cy="2499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0755" rIns="0" bIns="0" rtlCol="0">
            <a:spAutoFit/>
          </a:bodyPr>
          <a:lstStyle/>
          <a:p>
            <a:pPr marL="128905" marR="131445">
              <a:lnSpc>
                <a:spcPts val="3020"/>
              </a:lnSpc>
              <a:spcBef>
                <a:spcPts val="490"/>
              </a:spcBef>
            </a:pPr>
            <a:r>
              <a:rPr sz="2800" dirty="0"/>
              <a:t>Опираться</a:t>
            </a:r>
            <a:r>
              <a:rPr sz="2800" spc="-80" dirty="0"/>
              <a:t> </a:t>
            </a:r>
            <a:r>
              <a:rPr sz="2800" dirty="0"/>
              <a:t>в</a:t>
            </a:r>
            <a:r>
              <a:rPr sz="2800" spc="-80" dirty="0"/>
              <a:t> </a:t>
            </a:r>
            <a:r>
              <a:rPr sz="2800" spc="-25" dirty="0"/>
              <a:t>рассказе</a:t>
            </a:r>
            <a:r>
              <a:rPr sz="2800" spc="-120" dirty="0"/>
              <a:t> </a:t>
            </a:r>
            <a:r>
              <a:rPr sz="2800" dirty="0"/>
              <a:t>о</a:t>
            </a:r>
            <a:r>
              <a:rPr sz="2800" spc="-75" dirty="0"/>
              <a:t> </a:t>
            </a:r>
            <a:r>
              <a:rPr sz="2800" dirty="0"/>
              <a:t>курсе</a:t>
            </a:r>
            <a:r>
              <a:rPr sz="2800" spc="-35" dirty="0"/>
              <a:t> </a:t>
            </a:r>
            <a:r>
              <a:rPr sz="2800" dirty="0"/>
              <a:t>на</a:t>
            </a:r>
            <a:r>
              <a:rPr sz="2800" spc="-95" dirty="0"/>
              <a:t> </a:t>
            </a:r>
            <a:r>
              <a:rPr sz="2800" spc="-10" dirty="0"/>
              <a:t>выявленные потребности</a:t>
            </a:r>
            <a:r>
              <a:rPr sz="2800" spc="-50" dirty="0"/>
              <a:t> </a:t>
            </a:r>
            <a:r>
              <a:rPr sz="2800" dirty="0"/>
              <a:t>до</a:t>
            </a:r>
            <a:r>
              <a:rPr sz="2800" spc="-25" dirty="0"/>
              <a:t> </a:t>
            </a:r>
            <a:r>
              <a:rPr sz="2800" spc="-10" dirty="0"/>
              <a:t>старта</a:t>
            </a:r>
            <a:endParaRPr sz="2800"/>
          </a:p>
          <a:p>
            <a:pPr marL="128905">
              <a:lnSpc>
                <a:spcPct val="100000"/>
              </a:lnSpc>
              <a:spcBef>
                <a:spcPts val="635"/>
              </a:spcBef>
            </a:pPr>
            <a:r>
              <a:rPr sz="2800" spc="-30" dirty="0"/>
              <a:t>Телепортировать</a:t>
            </a:r>
            <a:r>
              <a:rPr sz="2800" spc="-55" dirty="0"/>
              <a:t> </a:t>
            </a:r>
            <a:r>
              <a:rPr sz="2800" dirty="0"/>
              <a:t>в</a:t>
            </a:r>
            <a:r>
              <a:rPr sz="2800" spc="-90" dirty="0"/>
              <a:t> </a:t>
            </a:r>
            <a:r>
              <a:rPr sz="2800" spc="-10" dirty="0"/>
              <a:t>желаемое</a:t>
            </a:r>
            <a:r>
              <a:rPr sz="2800" spc="-50" dirty="0"/>
              <a:t> </a:t>
            </a:r>
            <a:r>
              <a:rPr sz="2800" spc="-10" dirty="0"/>
              <a:t>будущее</a:t>
            </a:r>
            <a:endParaRPr sz="2800"/>
          </a:p>
          <a:p>
            <a:pPr marL="128905" marR="5080">
              <a:lnSpc>
                <a:spcPts val="3020"/>
              </a:lnSpc>
              <a:spcBef>
                <a:spcPts val="1055"/>
              </a:spcBef>
            </a:pPr>
            <a:r>
              <a:rPr sz="2800" spc="-40" dirty="0"/>
              <a:t>Рассказать</a:t>
            </a:r>
            <a:r>
              <a:rPr sz="2800" spc="-130" dirty="0"/>
              <a:t> </a:t>
            </a:r>
            <a:r>
              <a:rPr sz="2800" dirty="0"/>
              <a:t>о</a:t>
            </a:r>
            <a:r>
              <a:rPr sz="2800" spc="-95" dirty="0"/>
              <a:t> </a:t>
            </a:r>
            <a:r>
              <a:rPr sz="2800" dirty="0"/>
              <a:t>процессе</a:t>
            </a:r>
            <a:r>
              <a:rPr sz="2800" spc="-105" dirty="0"/>
              <a:t> </a:t>
            </a:r>
            <a:r>
              <a:rPr sz="2800" dirty="0"/>
              <a:t>занятий</a:t>
            </a:r>
            <a:r>
              <a:rPr sz="2800" spc="-100" dirty="0"/>
              <a:t> </a:t>
            </a:r>
            <a:r>
              <a:rPr sz="2800" spc="-55" dirty="0"/>
              <a:t>кратко</a:t>
            </a:r>
            <a:r>
              <a:rPr sz="2800" spc="-70" dirty="0"/>
              <a:t> </a:t>
            </a:r>
            <a:r>
              <a:rPr sz="2800" spc="-10" dirty="0"/>
              <a:t>важные моменты</a:t>
            </a:r>
            <a:endParaRPr sz="2800"/>
          </a:p>
          <a:p>
            <a:pPr marL="128905">
              <a:lnSpc>
                <a:spcPct val="100000"/>
              </a:lnSpc>
              <a:spcBef>
                <a:spcPts val="615"/>
              </a:spcBef>
            </a:pPr>
            <a:r>
              <a:rPr sz="2800" spc="-60" dirty="0"/>
              <a:t>Дать</a:t>
            </a:r>
            <a:r>
              <a:rPr sz="2800" spc="-130" dirty="0"/>
              <a:t> </a:t>
            </a:r>
            <a:r>
              <a:rPr sz="2800" dirty="0"/>
              <a:t>описание</a:t>
            </a:r>
            <a:r>
              <a:rPr sz="2800" spc="-180" dirty="0"/>
              <a:t> </a:t>
            </a:r>
            <a:r>
              <a:rPr sz="2800" spc="-20" dirty="0"/>
              <a:t>(памятку)</a:t>
            </a:r>
            <a:r>
              <a:rPr sz="2800" spc="-120" dirty="0"/>
              <a:t> </a:t>
            </a:r>
            <a:r>
              <a:rPr sz="2800" spc="-10" dirty="0"/>
              <a:t>курса</a:t>
            </a:r>
            <a:endParaRPr sz="28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942" y="4454652"/>
            <a:ext cx="223793" cy="2499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20720" y="3508959"/>
            <a:ext cx="551497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Вызываем</a:t>
            </a:r>
            <a:r>
              <a:rPr sz="4400" spc="-305" dirty="0"/>
              <a:t> </a:t>
            </a:r>
            <a:r>
              <a:rPr sz="4400" spc="-10" dirty="0"/>
              <a:t>доверие</a:t>
            </a:r>
            <a:endParaRPr sz="4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50" rIns="0" bIns="0" rtlCol="0">
            <a:spAutoFit/>
          </a:bodyPr>
          <a:lstStyle/>
          <a:p>
            <a:pPr marL="438784" marR="5080">
              <a:lnSpc>
                <a:spcPts val="4320"/>
              </a:lnSpc>
              <a:spcBef>
                <a:spcPts val="650"/>
              </a:spcBef>
            </a:pPr>
            <a:r>
              <a:rPr sz="4000" dirty="0"/>
              <a:t>Шаг</a:t>
            </a:r>
            <a:r>
              <a:rPr sz="4000" spc="-60" dirty="0"/>
              <a:t> </a:t>
            </a:r>
            <a:r>
              <a:rPr sz="4000" dirty="0"/>
              <a:t>6.</a:t>
            </a:r>
            <a:r>
              <a:rPr sz="4000" spc="-55" dirty="0"/>
              <a:t> </a:t>
            </a:r>
            <a:r>
              <a:rPr sz="4000" dirty="0"/>
              <a:t>Показать,</a:t>
            </a:r>
            <a:r>
              <a:rPr sz="4000" spc="-35" dirty="0"/>
              <a:t> </a:t>
            </a:r>
            <a:r>
              <a:rPr sz="4000" dirty="0"/>
              <a:t>что</a:t>
            </a:r>
            <a:r>
              <a:rPr sz="4000" spc="20" dirty="0"/>
              <a:t> </a:t>
            </a:r>
            <a:r>
              <a:rPr sz="4000" dirty="0"/>
              <a:t>с</a:t>
            </a:r>
            <a:r>
              <a:rPr sz="4000" spc="-35" dirty="0"/>
              <a:t> </a:t>
            </a:r>
            <a:r>
              <a:rPr sz="4000" spc="-20" dirty="0"/>
              <a:t>вами </a:t>
            </a:r>
            <a:r>
              <a:rPr sz="4000" dirty="0"/>
              <a:t>можно</a:t>
            </a:r>
            <a:r>
              <a:rPr sz="4000" spc="-120" dirty="0"/>
              <a:t> </a:t>
            </a:r>
            <a:r>
              <a:rPr sz="4000" dirty="0"/>
              <a:t>их</a:t>
            </a:r>
            <a:r>
              <a:rPr sz="4000" spc="-35" dirty="0"/>
              <a:t> </a:t>
            </a:r>
            <a:r>
              <a:rPr sz="4000" spc="-10" dirty="0"/>
              <a:t>достичь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807" y="2561463"/>
            <a:ext cx="145600" cy="1615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807" y="2933319"/>
            <a:ext cx="145600" cy="161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807" y="3555110"/>
            <a:ext cx="145600" cy="1615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800" b="1" dirty="0">
                <a:latin typeface="Arial"/>
                <a:cs typeface="Arial"/>
              </a:rPr>
              <a:t>При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диагностическом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занятии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30"/>
              </a:spcBef>
            </a:pPr>
            <a:r>
              <a:rPr sz="1800" spc="-20" dirty="0"/>
              <a:t>То,</a:t>
            </a:r>
            <a:r>
              <a:rPr sz="1800" spc="-35" dirty="0"/>
              <a:t> </a:t>
            </a:r>
            <a:r>
              <a:rPr sz="1800" dirty="0"/>
              <a:t>что</a:t>
            </a:r>
            <a:r>
              <a:rPr sz="1800" spc="-30" dirty="0"/>
              <a:t> </a:t>
            </a:r>
            <a:r>
              <a:rPr sz="1800" dirty="0"/>
              <a:t>я</a:t>
            </a:r>
            <a:r>
              <a:rPr sz="1800" spc="-30" dirty="0"/>
              <a:t> </a:t>
            </a:r>
            <a:r>
              <a:rPr sz="1800" dirty="0"/>
              <a:t>вижу</a:t>
            </a:r>
            <a:r>
              <a:rPr sz="1800" spc="-50" dirty="0"/>
              <a:t> </a:t>
            </a:r>
            <a:r>
              <a:rPr sz="1800" dirty="0"/>
              <a:t>у</a:t>
            </a:r>
            <a:r>
              <a:rPr sz="1800" spc="-45" dirty="0"/>
              <a:t> </a:t>
            </a:r>
            <a:r>
              <a:rPr sz="1800" spc="-10" dirty="0"/>
              <a:t>ребенка,</a:t>
            </a:r>
            <a:r>
              <a:rPr sz="1800" spc="-50" dirty="0"/>
              <a:t> </a:t>
            </a:r>
            <a:r>
              <a:rPr sz="1800" dirty="0"/>
              <a:t>это</a:t>
            </a:r>
            <a:r>
              <a:rPr sz="1800" spc="-35" dirty="0"/>
              <a:t> </a:t>
            </a:r>
            <a:r>
              <a:rPr sz="1800" spc="40" dirty="0"/>
              <a:t>называется…</a:t>
            </a:r>
            <a:endParaRPr sz="1800"/>
          </a:p>
          <a:p>
            <a:pPr marL="469900">
              <a:lnSpc>
                <a:spcPts val="2055"/>
              </a:lnSpc>
              <a:spcBef>
                <a:spcPts val="770"/>
              </a:spcBef>
            </a:pPr>
            <a:r>
              <a:rPr sz="1800" spc="-80" dirty="0"/>
              <a:t>Как</a:t>
            </a:r>
            <a:r>
              <a:rPr sz="1800" spc="-30" dirty="0"/>
              <a:t> </a:t>
            </a:r>
            <a:r>
              <a:rPr sz="1800" dirty="0"/>
              <a:t>правило,</a:t>
            </a:r>
            <a:r>
              <a:rPr sz="1800" spc="-55" dirty="0"/>
              <a:t> </a:t>
            </a:r>
            <a:r>
              <a:rPr sz="1800" dirty="0"/>
              <a:t>чтобы</a:t>
            </a:r>
            <a:r>
              <a:rPr sz="1800" spc="-15" dirty="0"/>
              <a:t> </a:t>
            </a:r>
            <a:r>
              <a:rPr sz="1800" dirty="0"/>
              <a:t>исправить</a:t>
            </a:r>
            <a:r>
              <a:rPr sz="1800" spc="-65" dirty="0"/>
              <a:t> </a:t>
            </a:r>
            <a:r>
              <a:rPr sz="1800" dirty="0"/>
              <a:t>ситуацию,</a:t>
            </a:r>
            <a:r>
              <a:rPr sz="1800" spc="-30" dirty="0"/>
              <a:t> </a:t>
            </a:r>
            <a:r>
              <a:rPr sz="1800" spc="-20" dirty="0"/>
              <a:t>требуется</a:t>
            </a:r>
            <a:r>
              <a:rPr sz="1800" spc="-10" dirty="0"/>
              <a:t> </a:t>
            </a:r>
            <a:r>
              <a:rPr sz="1800" spc="260" dirty="0"/>
              <a:t>от…</a:t>
            </a:r>
            <a:r>
              <a:rPr sz="1800" spc="-15" dirty="0"/>
              <a:t> </a:t>
            </a:r>
            <a:r>
              <a:rPr sz="1800" spc="260" dirty="0"/>
              <a:t>до…</a:t>
            </a:r>
            <a:r>
              <a:rPr sz="1800" spc="-20" dirty="0"/>
              <a:t> </a:t>
            </a:r>
            <a:r>
              <a:rPr sz="1800" dirty="0"/>
              <a:t>месяцев</a:t>
            </a:r>
            <a:r>
              <a:rPr sz="1800" spc="-75" dirty="0"/>
              <a:t> </a:t>
            </a:r>
            <a:r>
              <a:rPr sz="1800" spc="-25" dirty="0"/>
              <a:t>при</a:t>
            </a:r>
            <a:endParaRPr sz="1800"/>
          </a:p>
          <a:p>
            <a:pPr marL="469900">
              <a:lnSpc>
                <a:spcPts val="2055"/>
              </a:lnSpc>
            </a:pPr>
            <a:r>
              <a:rPr sz="1800" dirty="0"/>
              <a:t>регулярности</a:t>
            </a:r>
            <a:r>
              <a:rPr sz="1800" spc="-15" dirty="0"/>
              <a:t> </a:t>
            </a:r>
            <a:r>
              <a:rPr sz="1800" dirty="0"/>
              <a:t>1</a:t>
            </a:r>
            <a:r>
              <a:rPr sz="1800" spc="-45" dirty="0"/>
              <a:t> </a:t>
            </a:r>
            <a:r>
              <a:rPr sz="1800" dirty="0"/>
              <a:t>раз</a:t>
            </a:r>
            <a:r>
              <a:rPr sz="1800" spc="-40" dirty="0"/>
              <a:t> </a:t>
            </a:r>
            <a:r>
              <a:rPr sz="1800" dirty="0"/>
              <a:t>в</a:t>
            </a:r>
            <a:r>
              <a:rPr sz="1800" spc="-25" dirty="0"/>
              <a:t> </a:t>
            </a:r>
            <a:r>
              <a:rPr sz="1800" spc="-10" dirty="0"/>
              <a:t>неделю.</a:t>
            </a:r>
            <a:endParaRPr sz="1800"/>
          </a:p>
          <a:p>
            <a:pPr marL="469900">
              <a:lnSpc>
                <a:spcPts val="2055"/>
              </a:lnSpc>
              <a:spcBef>
                <a:spcPts val="790"/>
              </a:spcBef>
            </a:pPr>
            <a:r>
              <a:rPr sz="1800" dirty="0"/>
              <a:t>Я</a:t>
            </a:r>
            <a:r>
              <a:rPr sz="1800" spc="-35" dirty="0"/>
              <a:t> </a:t>
            </a:r>
            <a:r>
              <a:rPr sz="1800" dirty="0"/>
              <a:t>уже</a:t>
            </a:r>
            <a:r>
              <a:rPr sz="1800" spc="-25" dirty="0"/>
              <a:t> </a:t>
            </a:r>
            <a:r>
              <a:rPr sz="1800" spc="785" dirty="0"/>
              <a:t>…</a:t>
            </a:r>
            <a:r>
              <a:rPr sz="1800" spc="-35" dirty="0"/>
              <a:t> </a:t>
            </a:r>
            <a:r>
              <a:rPr sz="1800" dirty="0"/>
              <a:t>лет</a:t>
            </a:r>
            <a:r>
              <a:rPr sz="1800" spc="-40" dirty="0"/>
              <a:t> </a:t>
            </a:r>
            <a:r>
              <a:rPr sz="1800" spc="60" dirty="0"/>
              <a:t>занимаюсь…</a:t>
            </a:r>
            <a:r>
              <a:rPr sz="1800" spc="-55" dirty="0"/>
              <a:t> </a:t>
            </a:r>
            <a:r>
              <a:rPr sz="1800" dirty="0"/>
              <a:t>работой</a:t>
            </a:r>
            <a:r>
              <a:rPr sz="1800" spc="-50" dirty="0"/>
              <a:t> </a:t>
            </a:r>
            <a:r>
              <a:rPr sz="1800" dirty="0"/>
              <a:t>с</a:t>
            </a:r>
            <a:r>
              <a:rPr sz="1800" spc="-45" dirty="0"/>
              <a:t> </a:t>
            </a:r>
            <a:r>
              <a:rPr sz="1800" dirty="0"/>
              <a:t>детьми</a:t>
            </a:r>
            <a:r>
              <a:rPr sz="1800" spc="-20" dirty="0"/>
              <a:t> </a:t>
            </a:r>
            <a:r>
              <a:rPr sz="1800" dirty="0"/>
              <a:t>в</a:t>
            </a:r>
            <a:r>
              <a:rPr sz="1800" spc="-30" dirty="0"/>
              <a:t> </a:t>
            </a:r>
            <a:r>
              <a:rPr sz="1800" dirty="0"/>
              <a:t>аналогичных</a:t>
            </a:r>
            <a:r>
              <a:rPr sz="1800" spc="-40" dirty="0"/>
              <a:t> </a:t>
            </a:r>
            <a:r>
              <a:rPr sz="1800" dirty="0"/>
              <a:t>ситуациях,</a:t>
            </a:r>
            <a:r>
              <a:rPr sz="1800" spc="-30" dirty="0"/>
              <a:t> </a:t>
            </a:r>
            <a:r>
              <a:rPr sz="1800" dirty="0"/>
              <a:t>и</a:t>
            </a:r>
            <a:r>
              <a:rPr sz="1800" spc="-35" dirty="0"/>
              <a:t> </a:t>
            </a:r>
            <a:r>
              <a:rPr sz="1800" spc="-25" dirty="0"/>
              <a:t>деток</a:t>
            </a:r>
            <a:r>
              <a:rPr sz="1800" spc="-45" dirty="0"/>
              <a:t> </a:t>
            </a:r>
            <a:r>
              <a:rPr sz="1800" spc="-50" dirty="0"/>
              <a:t>с</a:t>
            </a:r>
            <a:endParaRPr sz="1800"/>
          </a:p>
          <a:p>
            <a:pPr marL="469900">
              <a:lnSpc>
                <a:spcPts val="2055"/>
              </a:lnSpc>
            </a:pPr>
            <a:r>
              <a:rPr sz="1800" spc="-20" dirty="0"/>
              <a:t>такого</a:t>
            </a:r>
            <a:r>
              <a:rPr sz="1800" spc="-15" dirty="0"/>
              <a:t> </a:t>
            </a:r>
            <a:r>
              <a:rPr sz="1800" dirty="0"/>
              <a:t>рода</a:t>
            </a:r>
            <a:r>
              <a:rPr sz="1800" spc="-25" dirty="0"/>
              <a:t> </a:t>
            </a:r>
            <a:r>
              <a:rPr sz="1800" spc="-10" dirty="0"/>
              <a:t>особенностями</a:t>
            </a:r>
            <a:r>
              <a:rPr sz="1800" spc="-60" dirty="0"/>
              <a:t> </a:t>
            </a:r>
            <a:r>
              <a:rPr sz="1800" dirty="0"/>
              <a:t>у</a:t>
            </a:r>
            <a:r>
              <a:rPr sz="1800" spc="-30" dirty="0"/>
              <a:t> </a:t>
            </a:r>
            <a:r>
              <a:rPr sz="1800" dirty="0"/>
              <a:t>меня</a:t>
            </a:r>
            <a:r>
              <a:rPr sz="1800" spc="-25" dirty="0"/>
              <a:t> </a:t>
            </a:r>
            <a:r>
              <a:rPr sz="1800" spc="145" dirty="0"/>
              <a:t>было…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50" rIns="0" bIns="0" rtlCol="0">
            <a:spAutoFit/>
          </a:bodyPr>
          <a:lstStyle/>
          <a:p>
            <a:pPr marL="438784" marR="5080">
              <a:lnSpc>
                <a:spcPts val="4320"/>
              </a:lnSpc>
              <a:spcBef>
                <a:spcPts val="650"/>
              </a:spcBef>
            </a:pPr>
            <a:r>
              <a:rPr sz="4000" dirty="0"/>
              <a:t>Шаг</a:t>
            </a:r>
            <a:r>
              <a:rPr sz="4000" spc="-60" dirty="0"/>
              <a:t> </a:t>
            </a:r>
            <a:r>
              <a:rPr sz="4000" dirty="0"/>
              <a:t>6.</a:t>
            </a:r>
            <a:r>
              <a:rPr sz="4000" spc="-55" dirty="0"/>
              <a:t> </a:t>
            </a:r>
            <a:r>
              <a:rPr sz="4000" dirty="0"/>
              <a:t>Показать,</a:t>
            </a:r>
            <a:r>
              <a:rPr sz="4000" spc="-35" dirty="0"/>
              <a:t> </a:t>
            </a:r>
            <a:r>
              <a:rPr sz="4000" dirty="0"/>
              <a:t>что</a:t>
            </a:r>
            <a:r>
              <a:rPr sz="4000" spc="20" dirty="0"/>
              <a:t> </a:t>
            </a:r>
            <a:r>
              <a:rPr sz="4000" dirty="0"/>
              <a:t>с</a:t>
            </a:r>
            <a:r>
              <a:rPr sz="4000" spc="-35" dirty="0"/>
              <a:t> </a:t>
            </a:r>
            <a:r>
              <a:rPr sz="4000" spc="-20" dirty="0"/>
              <a:t>вами </a:t>
            </a:r>
            <a:r>
              <a:rPr sz="4000" dirty="0"/>
              <a:t>можно</a:t>
            </a:r>
            <a:r>
              <a:rPr sz="4000" spc="-120" dirty="0"/>
              <a:t> </a:t>
            </a:r>
            <a:r>
              <a:rPr sz="4000" dirty="0"/>
              <a:t>их</a:t>
            </a:r>
            <a:r>
              <a:rPr sz="4000" spc="-35" dirty="0"/>
              <a:t> </a:t>
            </a:r>
            <a:r>
              <a:rPr sz="4000" spc="-10" dirty="0"/>
              <a:t>достичь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807" y="2304288"/>
            <a:ext cx="145600" cy="1615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807" y="2676144"/>
            <a:ext cx="145600" cy="161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807" y="3051048"/>
            <a:ext cx="145600" cy="1615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8994" y="3980688"/>
            <a:ext cx="145600" cy="16154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800" b="1" dirty="0">
                <a:latin typeface="Arial"/>
                <a:cs typeface="Arial"/>
              </a:rPr>
              <a:t>На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мастер-</a:t>
            </a:r>
            <a:r>
              <a:rPr sz="2800" b="1" dirty="0">
                <a:latin typeface="Arial"/>
                <a:cs typeface="Arial"/>
              </a:rPr>
              <a:t>классах</a:t>
            </a:r>
            <a:r>
              <a:rPr sz="2800" b="1" spc="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и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пробных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уроках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35"/>
              </a:spcBef>
            </a:pPr>
            <a:r>
              <a:rPr sz="1800" dirty="0"/>
              <a:t>Опыт</a:t>
            </a:r>
            <a:r>
              <a:rPr sz="1800" spc="-65" dirty="0"/>
              <a:t> </a:t>
            </a:r>
            <a:r>
              <a:rPr sz="1800" dirty="0"/>
              <a:t>достижения</a:t>
            </a:r>
            <a:r>
              <a:rPr sz="1800" spc="-75" dirty="0"/>
              <a:t> </a:t>
            </a:r>
            <a:r>
              <a:rPr sz="1800" spc="-35" dirty="0"/>
              <a:t>результатов</a:t>
            </a:r>
            <a:r>
              <a:rPr sz="1800" spc="-15" dirty="0"/>
              <a:t> </a:t>
            </a:r>
            <a:r>
              <a:rPr sz="1800" spc="-10" dirty="0"/>
              <a:t>ранее</a:t>
            </a:r>
            <a:endParaRPr sz="1800"/>
          </a:p>
          <a:p>
            <a:pPr marL="469900">
              <a:lnSpc>
                <a:spcPct val="100000"/>
              </a:lnSpc>
              <a:spcBef>
                <a:spcPts val="765"/>
              </a:spcBef>
            </a:pPr>
            <a:r>
              <a:rPr sz="1800" dirty="0"/>
              <a:t>Ваш опыт </a:t>
            </a:r>
            <a:r>
              <a:rPr sz="1800" spc="-10" dirty="0"/>
              <a:t>работы</a:t>
            </a:r>
            <a:endParaRPr sz="1800"/>
          </a:p>
          <a:p>
            <a:pPr marL="469900">
              <a:lnSpc>
                <a:spcPts val="2050"/>
              </a:lnSpc>
              <a:spcBef>
                <a:spcPts val="795"/>
              </a:spcBef>
            </a:pPr>
            <a:r>
              <a:rPr sz="1800" spc="-10" dirty="0"/>
              <a:t>Артефакты,</a:t>
            </a:r>
            <a:r>
              <a:rPr sz="1800" spc="-40" dirty="0"/>
              <a:t> </a:t>
            </a:r>
            <a:r>
              <a:rPr sz="1800" spc="-10" dirty="0"/>
              <a:t>которые</a:t>
            </a:r>
            <a:r>
              <a:rPr sz="1800" spc="-40" dirty="0"/>
              <a:t> </a:t>
            </a:r>
            <a:r>
              <a:rPr sz="1800" spc="-20" dirty="0"/>
              <a:t>подтверждают</a:t>
            </a:r>
            <a:r>
              <a:rPr sz="1800" spc="-30" dirty="0"/>
              <a:t> результаты:</a:t>
            </a:r>
            <a:r>
              <a:rPr sz="1800" spc="25" dirty="0"/>
              <a:t> </a:t>
            </a:r>
            <a:r>
              <a:rPr sz="1800" spc="-45" dirty="0"/>
              <a:t>«Фото</a:t>
            </a:r>
            <a:r>
              <a:rPr sz="1800" spc="-40" dirty="0"/>
              <a:t> </a:t>
            </a:r>
            <a:r>
              <a:rPr sz="1800" dirty="0"/>
              <a:t>до</a:t>
            </a:r>
            <a:r>
              <a:rPr sz="1800" spc="-20" dirty="0"/>
              <a:t> </a:t>
            </a:r>
            <a:r>
              <a:rPr sz="1800" dirty="0"/>
              <a:t>и</a:t>
            </a:r>
            <a:r>
              <a:rPr sz="1800" spc="-40" dirty="0"/>
              <a:t> </a:t>
            </a:r>
            <a:r>
              <a:rPr sz="1800" dirty="0"/>
              <a:t>после»,</a:t>
            </a:r>
            <a:r>
              <a:rPr sz="1800" spc="-60" dirty="0"/>
              <a:t> </a:t>
            </a:r>
            <a:r>
              <a:rPr sz="1800" spc="-10" dirty="0"/>
              <a:t>награды,</a:t>
            </a:r>
            <a:endParaRPr sz="1800"/>
          </a:p>
          <a:p>
            <a:pPr marL="469900">
              <a:lnSpc>
                <a:spcPts val="2050"/>
              </a:lnSpc>
            </a:pPr>
            <a:r>
              <a:rPr sz="1800" spc="-25" dirty="0"/>
              <a:t>конкретные</a:t>
            </a:r>
            <a:r>
              <a:rPr sz="1800" spc="-50" dirty="0"/>
              <a:t> </a:t>
            </a:r>
            <a:r>
              <a:rPr sz="1800" dirty="0"/>
              <a:t>факты</a:t>
            </a:r>
            <a:r>
              <a:rPr sz="1800" spc="-70" dirty="0"/>
              <a:t> </a:t>
            </a:r>
            <a:r>
              <a:rPr sz="1800" dirty="0"/>
              <a:t>и</a:t>
            </a:r>
            <a:r>
              <a:rPr sz="1800" spc="-50" dirty="0"/>
              <a:t> </a:t>
            </a:r>
            <a:r>
              <a:rPr sz="1800" spc="-10" dirty="0"/>
              <a:t>истории</a:t>
            </a:r>
            <a:endParaRPr sz="1800"/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800" dirty="0"/>
              <a:t>Если</a:t>
            </a:r>
            <a:r>
              <a:rPr sz="1800" spc="-50" dirty="0"/>
              <a:t> </a:t>
            </a:r>
            <a:r>
              <a:rPr sz="1800" dirty="0"/>
              <a:t>нет</a:t>
            </a:r>
            <a:r>
              <a:rPr sz="1800" spc="-20" dirty="0"/>
              <a:t> </a:t>
            </a:r>
            <a:r>
              <a:rPr sz="1800" spc="-10" dirty="0"/>
              <a:t>опыта</a:t>
            </a:r>
            <a:endParaRPr sz="1800"/>
          </a:p>
          <a:p>
            <a:pPr marL="698500">
              <a:lnSpc>
                <a:spcPct val="100000"/>
              </a:lnSpc>
              <a:spcBef>
                <a:spcPts val="265"/>
              </a:spcBef>
            </a:pPr>
            <a:r>
              <a:rPr sz="1800" dirty="0"/>
              <a:t>Об</a:t>
            </a:r>
            <a:r>
              <a:rPr sz="1800" spc="-50" dirty="0"/>
              <a:t> </a:t>
            </a:r>
            <a:r>
              <a:rPr sz="1800" dirty="0"/>
              <a:t>опыте</a:t>
            </a:r>
            <a:r>
              <a:rPr sz="1800" spc="-60" dirty="0"/>
              <a:t> </a:t>
            </a:r>
            <a:r>
              <a:rPr sz="1800" dirty="0"/>
              <a:t>клуба</a:t>
            </a:r>
            <a:r>
              <a:rPr sz="1800" spc="-40" dirty="0"/>
              <a:t> </a:t>
            </a:r>
            <a:r>
              <a:rPr sz="1800" dirty="0"/>
              <a:t>в</a:t>
            </a:r>
            <a:r>
              <a:rPr sz="1800" spc="-45" dirty="0"/>
              <a:t> </a:t>
            </a:r>
            <a:r>
              <a:rPr sz="1800" dirty="0"/>
              <a:t>этом</a:t>
            </a:r>
            <a:r>
              <a:rPr sz="1800" spc="-40" dirty="0"/>
              <a:t> </a:t>
            </a:r>
            <a:r>
              <a:rPr sz="1800" spc="-10" dirty="0"/>
              <a:t>направлении</a:t>
            </a:r>
            <a:endParaRPr sz="1800"/>
          </a:p>
          <a:p>
            <a:pPr marL="698500">
              <a:lnSpc>
                <a:spcPct val="100000"/>
              </a:lnSpc>
              <a:spcBef>
                <a:spcPts val="290"/>
              </a:spcBef>
            </a:pPr>
            <a:r>
              <a:rPr sz="1800" dirty="0"/>
              <a:t>О</a:t>
            </a:r>
            <a:r>
              <a:rPr sz="1800" spc="-30" dirty="0"/>
              <a:t> </a:t>
            </a:r>
            <a:r>
              <a:rPr sz="1800" spc="-35" dirty="0"/>
              <a:t>результатах</a:t>
            </a:r>
            <a:r>
              <a:rPr sz="1800" spc="20" dirty="0"/>
              <a:t> </a:t>
            </a:r>
            <a:r>
              <a:rPr sz="1800" spc="-20" dirty="0"/>
              <a:t>используемой</a:t>
            </a:r>
            <a:r>
              <a:rPr sz="1800" spc="-35" dirty="0"/>
              <a:t> </a:t>
            </a:r>
            <a:r>
              <a:rPr sz="1800" spc="-10" dirty="0"/>
              <a:t>программы</a:t>
            </a:r>
            <a:r>
              <a:rPr sz="1800" spc="-60" dirty="0"/>
              <a:t> </a:t>
            </a:r>
            <a:r>
              <a:rPr sz="1800" dirty="0"/>
              <a:t>и</a:t>
            </a:r>
            <a:r>
              <a:rPr sz="1800" spc="-35" dirty="0"/>
              <a:t> </a:t>
            </a:r>
            <a:r>
              <a:rPr sz="1800" dirty="0"/>
              <a:t>об</a:t>
            </a:r>
            <a:r>
              <a:rPr sz="1800" spc="-35" dirty="0"/>
              <a:t> </a:t>
            </a:r>
            <a:r>
              <a:rPr sz="1800" dirty="0"/>
              <a:t>авторах</a:t>
            </a:r>
            <a:r>
              <a:rPr sz="1800" spc="-30" dirty="0"/>
              <a:t> </a:t>
            </a:r>
            <a:r>
              <a:rPr sz="1800" spc="-10" dirty="0"/>
              <a:t>программы</a:t>
            </a:r>
            <a:endParaRPr sz="180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8994" y="4291584"/>
            <a:ext cx="145600" cy="1615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20720" y="3508959"/>
            <a:ext cx="249301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/>
              <a:t>Продаём</a:t>
            </a:r>
            <a:endParaRPr sz="4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946" rIns="0" bIns="0" rtlCol="0">
            <a:spAutoFit/>
          </a:bodyPr>
          <a:lstStyle/>
          <a:p>
            <a:pPr marL="438784">
              <a:lnSpc>
                <a:spcPts val="3650"/>
              </a:lnSpc>
              <a:spcBef>
                <a:spcPts val="90"/>
              </a:spcBef>
            </a:pPr>
            <a:r>
              <a:rPr dirty="0"/>
              <a:t>Шаг</a:t>
            </a:r>
            <a:r>
              <a:rPr spc="-80" dirty="0"/>
              <a:t> </a:t>
            </a:r>
            <a:r>
              <a:rPr dirty="0"/>
              <a:t>7.</a:t>
            </a:r>
            <a:r>
              <a:rPr spc="-170" dirty="0"/>
              <a:t> </a:t>
            </a:r>
            <a:r>
              <a:rPr dirty="0"/>
              <a:t>Озвучить</a:t>
            </a:r>
            <a:r>
              <a:rPr spc="-45" dirty="0"/>
              <a:t> </a:t>
            </a:r>
            <a:r>
              <a:rPr spc="-10" dirty="0"/>
              <a:t>причины</a:t>
            </a:r>
          </a:p>
          <a:p>
            <a:pPr marL="438784">
              <a:lnSpc>
                <a:spcPts val="3650"/>
              </a:lnSpc>
            </a:pPr>
            <a:r>
              <a:rPr dirty="0"/>
              <a:t>начать</a:t>
            </a:r>
            <a:r>
              <a:rPr spc="-90" dirty="0"/>
              <a:t> </a:t>
            </a:r>
            <a:r>
              <a:rPr dirty="0"/>
              <a:t>занятия</a:t>
            </a:r>
            <a:r>
              <a:rPr spc="-105" dirty="0"/>
              <a:t> </a:t>
            </a:r>
            <a:r>
              <a:rPr dirty="0"/>
              <a:t>как</a:t>
            </a:r>
            <a:r>
              <a:rPr spc="-145" dirty="0"/>
              <a:t> </a:t>
            </a:r>
            <a:r>
              <a:rPr dirty="0"/>
              <a:t>можно</a:t>
            </a:r>
            <a:r>
              <a:rPr spc="-80" dirty="0"/>
              <a:t> </a:t>
            </a:r>
            <a:r>
              <a:rPr spc="-10" dirty="0"/>
              <a:t>скорее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2310383"/>
            <a:ext cx="169867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3258311"/>
            <a:ext cx="169867" cy="176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3934967"/>
            <a:ext cx="169867" cy="17678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800" b="1" dirty="0">
                <a:latin typeface="Arial"/>
                <a:cs typeface="Arial"/>
              </a:rPr>
              <a:t>На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диагностических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занятиях</a:t>
            </a:r>
            <a:endParaRPr sz="2800">
              <a:latin typeface="Arial"/>
              <a:cs typeface="Arial"/>
            </a:endParaRPr>
          </a:p>
          <a:p>
            <a:pPr marL="469900" marR="5080">
              <a:lnSpc>
                <a:spcPct val="90000"/>
              </a:lnSpc>
              <a:spcBef>
                <a:spcPts val="1045"/>
              </a:spcBef>
            </a:pPr>
            <a:r>
              <a:rPr spc="-30" dirty="0"/>
              <a:t>Логическое</a:t>
            </a:r>
            <a:r>
              <a:rPr spc="-40" dirty="0"/>
              <a:t> </a:t>
            </a:r>
            <a:r>
              <a:rPr dirty="0"/>
              <a:t>обоснование:</a:t>
            </a:r>
            <a:r>
              <a:rPr spc="-70" dirty="0"/>
              <a:t> </a:t>
            </a:r>
            <a:r>
              <a:rPr dirty="0"/>
              <a:t>остались</a:t>
            </a:r>
            <a:r>
              <a:rPr spc="-75" dirty="0"/>
              <a:t> </a:t>
            </a:r>
            <a:r>
              <a:rPr spc="-30" dirty="0"/>
              <a:t>окошки</a:t>
            </a:r>
            <a:r>
              <a:rPr spc="-55" dirty="0"/>
              <a:t> </a:t>
            </a:r>
            <a:r>
              <a:rPr dirty="0"/>
              <a:t>в</a:t>
            </a:r>
            <a:r>
              <a:rPr spc="-85" dirty="0"/>
              <a:t> </a:t>
            </a:r>
            <a:r>
              <a:rPr spc="-10" dirty="0"/>
              <a:t>такое</a:t>
            </a:r>
            <a:r>
              <a:rPr spc="-60" dirty="0"/>
              <a:t> </a:t>
            </a:r>
            <a:r>
              <a:rPr dirty="0"/>
              <a:t>время,</a:t>
            </a:r>
            <a:r>
              <a:rPr spc="-75" dirty="0"/>
              <a:t> </a:t>
            </a:r>
            <a:r>
              <a:rPr spc="-10" dirty="0"/>
              <a:t>выбирайте </a:t>
            </a:r>
            <a:r>
              <a:rPr dirty="0"/>
              <a:t>удобный</a:t>
            </a:r>
            <a:r>
              <a:rPr spc="-25" dirty="0"/>
              <a:t> </a:t>
            </a:r>
            <a:r>
              <a:rPr spc="-30" dirty="0"/>
              <a:t>вариант.</a:t>
            </a:r>
            <a:r>
              <a:rPr spc="-80" dirty="0"/>
              <a:t> </a:t>
            </a:r>
            <a:r>
              <a:rPr dirty="0"/>
              <a:t>Не</a:t>
            </a:r>
            <a:r>
              <a:rPr spc="-80" dirty="0"/>
              <a:t> </a:t>
            </a:r>
            <a:r>
              <a:rPr dirty="0"/>
              <a:t>стоит</a:t>
            </a:r>
            <a:r>
              <a:rPr spc="-90" dirty="0"/>
              <a:t> </a:t>
            </a:r>
            <a:r>
              <a:rPr spc="-20" dirty="0"/>
              <a:t>откладывать,</a:t>
            </a:r>
            <a:r>
              <a:rPr spc="-40" dirty="0"/>
              <a:t> </a:t>
            </a:r>
            <a:r>
              <a:rPr spc="-10" dirty="0"/>
              <a:t>потому</a:t>
            </a:r>
            <a:r>
              <a:rPr spc="-70" dirty="0"/>
              <a:t> </a:t>
            </a:r>
            <a:r>
              <a:rPr dirty="0"/>
              <a:t>что</a:t>
            </a:r>
            <a:r>
              <a:rPr spc="-80" dirty="0"/>
              <a:t> </a:t>
            </a:r>
            <a:r>
              <a:rPr spc="-20" dirty="0"/>
              <a:t>потом</a:t>
            </a:r>
            <a:r>
              <a:rPr spc="-85" dirty="0"/>
              <a:t> </a:t>
            </a:r>
            <a:r>
              <a:rPr spc="-25" dirty="0"/>
              <a:t>будет</a:t>
            </a:r>
            <a:r>
              <a:rPr spc="-20" dirty="0"/>
              <a:t> </a:t>
            </a:r>
            <a:r>
              <a:rPr spc="-10" dirty="0"/>
              <a:t>сложнее </a:t>
            </a:r>
            <a:r>
              <a:rPr dirty="0"/>
              <a:t>исправить</a:t>
            </a:r>
            <a:r>
              <a:rPr spc="-55" dirty="0"/>
              <a:t> </a:t>
            </a:r>
            <a:r>
              <a:rPr dirty="0"/>
              <a:t>неправильно</a:t>
            </a:r>
            <a:r>
              <a:rPr spc="-60" dirty="0"/>
              <a:t> </a:t>
            </a:r>
            <a:r>
              <a:rPr spc="-25" dirty="0"/>
              <a:t>автоматизированный</a:t>
            </a:r>
            <a:r>
              <a:rPr spc="-15" dirty="0"/>
              <a:t> </a:t>
            </a:r>
            <a:r>
              <a:rPr spc="-10" dirty="0"/>
              <a:t>звук.</a:t>
            </a:r>
          </a:p>
          <a:p>
            <a:pPr marL="469900">
              <a:lnSpc>
                <a:spcPts val="2280"/>
              </a:lnSpc>
              <a:spcBef>
                <a:spcPts val="740"/>
              </a:spcBef>
            </a:pPr>
            <a:r>
              <a:rPr spc="-25" dirty="0"/>
              <a:t>Корпоративные</a:t>
            </a:r>
            <a:r>
              <a:rPr spc="-35" dirty="0"/>
              <a:t> </a:t>
            </a:r>
            <a:r>
              <a:rPr dirty="0"/>
              <a:t>правила.</a:t>
            </a:r>
            <a:r>
              <a:rPr spc="-30" dirty="0"/>
              <a:t> </a:t>
            </a:r>
            <a:r>
              <a:rPr spc="-20" dirty="0"/>
              <a:t>Подарки</a:t>
            </a:r>
            <a:r>
              <a:rPr spc="-55" dirty="0"/>
              <a:t> </a:t>
            </a:r>
            <a:r>
              <a:rPr dirty="0"/>
              <a:t>или</a:t>
            </a:r>
            <a:r>
              <a:rPr spc="-70" dirty="0"/>
              <a:t> </a:t>
            </a:r>
            <a:r>
              <a:rPr spc="-30" dirty="0"/>
              <a:t>скидки</a:t>
            </a:r>
            <a:r>
              <a:rPr spc="-50" dirty="0"/>
              <a:t> </a:t>
            </a:r>
            <a:r>
              <a:rPr dirty="0"/>
              <a:t>за</a:t>
            </a:r>
            <a:r>
              <a:rPr spc="-85" dirty="0"/>
              <a:t> </a:t>
            </a:r>
            <a:r>
              <a:rPr dirty="0"/>
              <a:t>быстрое</a:t>
            </a:r>
            <a:r>
              <a:rPr spc="-90" dirty="0"/>
              <a:t> </a:t>
            </a:r>
            <a:r>
              <a:rPr dirty="0"/>
              <a:t>решение</a:t>
            </a:r>
            <a:r>
              <a:rPr spc="-50" dirty="0"/>
              <a:t> о</a:t>
            </a:r>
          </a:p>
          <a:p>
            <a:pPr marL="469900">
              <a:lnSpc>
                <a:spcPts val="2280"/>
              </a:lnSpc>
            </a:pPr>
            <a:r>
              <a:rPr spc="-10" dirty="0"/>
              <a:t>покупке</a:t>
            </a:r>
          </a:p>
          <a:p>
            <a:pPr marL="469900">
              <a:lnSpc>
                <a:spcPct val="100000"/>
              </a:lnSpc>
              <a:spcBef>
                <a:spcPts val="770"/>
              </a:spcBef>
            </a:pPr>
            <a:r>
              <a:rPr dirty="0"/>
              <a:t>Причина</a:t>
            </a:r>
            <a:r>
              <a:rPr spc="-85" dirty="0"/>
              <a:t> </a:t>
            </a:r>
            <a:r>
              <a:rPr dirty="0"/>
              <a:t>вернуться:</a:t>
            </a:r>
            <a:r>
              <a:rPr spc="-20" dirty="0"/>
              <a:t> </a:t>
            </a:r>
            <a:r>
              <a:rPr spc="-10" dirty="0"/>
              <a:t>начатый</a:t>
            </a:r>
            <a:r>
              <a:rPr spc="-85" dirty="0"/>
              <a:t> </a:t>
            </a:r>
            <a:r>
              <a:rPr spc="-20" dirty="0"/>
              <a:t>дневничок</a:t>
            </a:r>
            <a:r>
              <a:rPr spc="-75" dirty="0"/>
              <a:t> </a:t>
            </a:r>
            <a:r>
              <a:rPr dirty="0"/>
              <a:t>посещений</a:t>
            </a:r>
            <a:r>
              <a:rPr spc="-50" dirty="0"/>
              <a:t> </a:t>
            </a:r>
            <a:r>
              <a:rPr dirty="0"/>
              <a:t>и</a:t>
            </a:r>
            <a:r>
              <a:rPr spc="-105" dirty="0"/>
              <a:t> </a:t>
            </a:r>
            <a:r>
              <a:rPr spc="-20" dirty="0"/>
              <a:t>т.п.</a:t>
            </a:r>
          </a:p>
          <a:p>
            <a:pPr>
              <a:lnSpc>
                <a:spcPct val="100000"/>
              </a:lnSpc>
            </a:pPr>
            <a:endParaRPr spc="-20" dirty="0"/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pc="-20" dirty="0"/>
          </a:p>
          <a:p>
            <a:pPr marL="12700">
              <a:lnSpc>
                <a:spcPct val="100000"/>
              </a:lnSpc>
            </a:pPr>
            <a:r>
              <a:rPr sz="2800" spc="-10" dirty="0"/>
              <a:t>Задать</a:t>
            </a:r>
            <a:r>
              <a:rPr sz="2800" spc="-70" dirty="0"/>
              <a:t> </a:t>
            </a:r>
            <a:r>
              <a:rPr sz="2800" dirty="0"/>
              <a:t>вопрос</a:t>
            </a:r>
            <a:r>
              <a:rPr sz="2800" spc="-60" dirty="0"/>
              <a:t> </a:t>
            </a:r>
            <a:r>
              <a:rPr sz="2800" dirty="0"/>
              <a:t>«На</a:t>
            </a:r>
            <a:r>
              <a:rPr sz="2800" spc="-55" dirty="0"/>
              <a:t> </a:t>
            </a:r>
            <a:r>
              <a:rPr sz="2800" spc="-50" dirty="0"/>
              <a:t>когда</a:t>
            </a:r>
            <a:r>
              <a:rPr sz="2800" spc="-75" dirty="0"/>
              <a:t> </a:t>
            </a:r>
            <a:r>
              <a:rPr sz="2800" dirty="0"/>
              <a:t>вас</a:t>
            </a:r>
            <a:r>
              <a:rPr sz="2800" spc="-60" dirty="0"/>
              <a:t> </a:t>
            </a:r>
            <a:r>
              <a:rPr sz="2800" spc="-10" dirty="0"/>
              <a:t>записать?»</a:t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946" rIns="0" bIns="0" rtlCol="0">
            <a:spAutoFit/>
          </a:bodyPr>
          <a:lstStyle/>
          <a:p>
            <a:pPr marL="438784">
              <a:lnSpc>
                <a:spcPts val="3650"/>
              </a:lnSpc>
              <a:spcBef>
                <a:spcPts val="90"/>
              </a:spcBef>
            </a:pPr>
            <a:r>
              <a:rPr dirty="0"/>
              <a:t>Шаг</a:t>
            </a:r>
            <a:r>
              <a:rPr spc="-80" dirty="0"/>
              <a:t> </a:t>
            </a:r>
            <a:r>
              <a:rPr dirty="0"/>
              <a:t>7.</a:t>
            </a:r>
            <a:r>
              <a:rPr spc="-170" dirty="0"/>
              <a:t> </a:t>
            </a:r>
            <a:r>
              <a:rPr dirty="0"/>
              <a:t>Озвучить</a:t>
            </a:r>
            <a:r>
              <a:rPr spc="-45" dirty="0"/>
              <a:t> </a:t>
            </a:r>
            <a:r>
              <a:rPr spc="-10" dirty="0"/>
              <a:t>причины</a:t>
            </a:r>
          </a:p>
          <a:p>
            <a:pPr marL="438784">
              <a:lnSpc>
                <a:spcPts val="3650"/>
              </a:lnSpc>
            </a:pPr>
            <a:r>
              <a:rPr dirty="0"/>
              <a:t>начать</a:t>
            </a:r>
            <a:r>
              <a:rPr spc="-90" dirty="0"/>
              <a:t> </a:t>
            </a:r>
            <a:r>
              <a:rPr dirty="0"/>
              <a:t>занятия</a:t>
            </a:r>
            <a:r>
              <a:rPr spc="-105" dirty="0"/>
              <a:t> </a:t>
            </a:r>
            <a:r>
              <a:rPr dirty="0"/>
              <a:t>как</a:t>
            </a:r>
            <a:r>
              <a:rPr spc="-145" dirty="0"/>
              <a:t> </a:t>
            </a:r>
            <a:r>
              <a:rPr dirty="0"/>
              <a:t>можно</a:t>
            </a:r>
            <a:r>
              <a:rPr spc="-80" dirty="0"/>
              <a:t> </a:t>
            </a:r>
            <a:r>
              <a:rPr spc="-10" dirty="0"/>
              <a:t>скорее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2310383"/>
            <a:ext cx="169867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2709672"/>
            <a:ext cx="169867" cy="176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3386328"/>
            <a:ext cx="169867" cy="1767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4062984"/>
            <a:ext cx="169867" cy="1767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800" b="1" dirty="0">
                <a:latin typeface="Arial"/>
                <a:cs typeface="Arial"/>
              </a:rPr>
              <a:t>На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мастер-</a:t>
            </a:r>
            <a:r>
              <a:rPr sz="2800" b="1" dirty="0">
                <a:latin typeface="Arial"/>
                <a:cs typeface="Arial"/>
              </a:rPr>
              <a:t>классах</a:t>
            </a:r>
            <a:r>
              <a:rPr sz="2800" b="1" spc="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и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пробных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уроках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05"/>
              </a:spcBef>
            </a:pPr>
            <a:r>
              <a:rPr spc="-30" dirty="0"/>
              <a:t>Логическое</a:t>
            </a:r>
            <a:r>
              <a:rPr spc="-65" dirty="0"/>
              <a:t> </a:t>
            </a:r>
            <a:r>
              <a:rPr dirty="0"/>
              <a:t>обоснование:</a:t>
            </a:r>
            <a:r>
              <a:rPr spc="-95" dirty="0"/>
              <a:t> </a:t>
            </a:r>
            <a:r>
              <a:rPr spc="-40" dirty="0"/>
              <a:t>закупка</a:t>
            </a:r>
            <a:r>
              <a:rPr spc="-20" dirty="0"/>
              <a:t> учебников,</a:t>
            </a:r>
            <a:r>
              <a:rPr spc="-40" dirty="0"/>
              <a:t> </a:t>
            </a:r>
            <a:r>
              <a:rPr dirty="0"/>
              <a:t>формы,</a:t>
            </a:r>
            <a:r>
              <a:rPr spc="-90" dirty="0"/>
              <a:t> </a:t>
            </a:r>
            <a:r>
              <a:rPr dirty="0"/>
              <a:t>старт</a:t>
            </a:r>
            <a:r>
              <a:rPr spc="-95" dirty="0"/>
              <a:t> </a:t>
            </a:r>
            <a:r>
              <a:rPr spc="-10" dirty="0"/>
              <a:t>программы</a:t>
            </a:r>
          </a:p>
          <a:p>
            <a:pPr marL="469900">
              <a:lnSpc>
                <a:spcPts val="2280"/>
              </a:lnSpc>
              <a:spcBef>
                <a:spcPts val="740"/>
              </a:spcBef>
            </a:pPr>
            <a:r>
              <a:rPr spc="-10" dirty="0"/>
              <a:t>Эмоциональное</a:t>
            </a:r>
            <a:r>
              <a:rPr spc="-30" dirty="0"/>
              <a:t> </a:t>
            </a:r>
            <a:r>
              <a:rPr dirty="0"/>
              <a:t>обоснование:</a:t>
            </a:r>
            <a:r>
              <a:rPr spc="-60" dirty="0"/>
              <a:t> </a:t>
            </a:r>
            <a:r>
              <a:rPr spc="-20" dirty="0"/>
              <a:t>подружитесь,</a:t>
            </a:r>
            <a:r>
              <a:rPr spc="15" dirty="0"/>
              <a:t> </a:t>
            </a:r>
            <a:r>
              <a:rPr dirty="0"/>
              <a:t>у</a:t>
            </a:r>
            <a:r>
              <a:rPr spc="-95" dirty="0"/>
              <a:t> </a:t>
            </a:r>
            <a:r>
              <a:rPr dirty="0"/>
              <a:t>нас</a:t>
            </a:r>
            <a:r>
              <a:rPr spc="-70" dirty="0"/>
              <a:t> </a:t>
            </a:r>
            <a:r>
              <a:rPr spc="-20" dirty="0"/>
              <a:t>планируется</a:t>
            </a:r>
            <a:r>
              <a:rPr spc="15" dirty="0"/>
              <a:t> </a:t>
            </a:r>
            <a:r>
              <a:rPr spc="-10" dirty="0"/>
              <a:t>поход</a:t>
            </a:r>
            <a:r>
              <a:rPr spc="-70" dirty="0"/>
              <a:t> </a:t>
            </a:r>
            <a:r>
              <a:rPr spc="-50" dirty="0"/>
              <a:t>в</a:t>
            </a:r>
          </a:p>
          <a:p>
            <a:pPr marL="469900">
              <a:lnSpc>
                <a:spcPts val="2280"/>
              </a:lnSpc>
            </a:pPr>
            <a:r>
              <a:rPr dirty="0"/>
              <a:t>театр,</a:t>
            </a:r>
            <a:r>
              <a:rPr spc="-95" dirty="0"/>
              <a:t> </a:t>
            </a:r>
            <a:r>
              <a:rPr dirty="0"/>
              <a:t>занятия</a:t>
            </a:r>
            <a:r>
              <a:rPr spc="-90" dirty="0"/>
              <a:t> </a:t>
            </a:r>
            <a:r>
              <a:rPr dirty="0"/>
              <a:t>в</a:t>
            </a:r>
            <a:r>
              <a:rPr spc="-105" dirty="0"/>
              <a:t> </a:t>
            </a:r>
            <a:r>
              <a:rPr dirty="0"/>
              <a:t>смешных</a:t>
            </a:r>
            <a:r>
              <a:rPr spc="-100" dirty="0"/>
              <a:t> </a:t>
            </a:r>
            <a:r>
              <a:rPr dirty="0"/>
              <a:t>носках,</a:t>
            </a:r>
            <a:r>
              <a:rPr spc="-90" dirty="0"/>
              <a:t> </a:t>
            </a:r>
            <a:r>
              <a:rPr dirty="0"/>
              <a:t>хеллоуин</a:t>
            </a:r>
            <a:r>
              <a:rPr spc="-25" dirty="0"/>
              <a:t> </a:t>
            </a:r>
            <a:r>
              <a:rPr spc="-10" dirty="0"/>
              <a:t>вечеринка</a:t>
            </a:r>
          </a:p>
          <a:p>
            <a:pPr marL="469900">
              <a:lnSpc>
                <a:spcPts val="2280"/>
              </a:lnSpc>
              <a:spcBef>
                <a:spcPts val="770"/>
              </a:spcBef>
            </a:pPr>
            <a:r>
              <a:rPr spc="-25" dirty="0"/>
              <a:t>Корпоративные</a:t>
            </a:r>
            <a:r>
              <a:rPr spc="-35" dirty="0"/>
              <a:t> </a:t>
            </a:r>
            <a:r>
              <a:rPr dirty="0"/>
              <a:t>правила.</a:t>
            </a:r>
            <a:r>
              <a:rPr spc="-30" dirty="0"/>
              <a:t> </a:t>
            </a:r>
            <a:r>
              <a:rPr spc="-20" dirty="0"/>
              <a:t>Подарки</a:t>
            </a:r>
            <a:r>
              <a:rPr spc="-55" dirty="0"/>
              <a:t> </a:t>
            </a:r>
            <a:r>
              <a:rPr dirty="0"/>
              <a:t>или</a:t>
            </a:r>
            <a:r>
              <a:rPr spc="-70" dirty="0"/>
              <a:t> </a:t>
            </a:r>
            <a:r>
              <a:rPr spc="-30" dirty="0"/>
              <a:t>скидки</a:t>
            </a:r>
            <a:r>
              <a:rPr spc="-50" dirty="0"/>
              <a:t> </a:t>
            </a:r>
            <a:r>
              <a:rPr dirty="0"/>
              <a:t>за</a:t>
            </a:r>
            <a:r>
              <a:rPr spc="-85" dirty="0"/>
              <a:t> </a:t>
            </a:r>
            <a:r>
              <a:rPr dirty="0"/>
              <a:t>быстрое</a:t>
            </a:r>
            <a:r>
              <a:rPr spc="-90" dirty="0"/>
              <a:t> </a:t>
            </a:r>
            <a:r>
              <a:rPr dirty="0"/>
              <a:t>решение</a:t>
            </a:r>
            <a:r>
              <a:rPr spc="-50" dirty="0"/>
              <a:t> о</a:t>
            </a:r>
          </a:p>
          <a:p>
            <a:pPr marL="469900">
              <a:lnSpc>
                <a:spcPts val="2280"/>
              </a:lnSpc>
            </a:pPr>
            <a:r>
              <a:rPr spc="-10" dirty="0"/>
              <a:t>покупке</a:t>
            </a:r>
          </a:p>
          <a:p>
            <a:pPr marL="469900">
              <a:lnSpc>
                <a:spcPct val="100000"/>
              </a:lnSpc>
              <a:spcBef>
                <a:spcPts val="770"/>
              </a:spcBef>
            </a:pPr>
            <a:r>
              <a:rPr dirty="0"/>
              <a:t>Причина</a:t>
            </a:r>
            <a:r>
              <a:rPr spc="-80" dirty="0"/>
              <a:t> </a:t>
            </a:r>
            <a:r>
              <a:rPr dirty="0"/>
              <a:t>вернуться:</a:t>
            </a:r>
            <a:r>
              <a:rPr spc="-20" dirty="0"/>
              <a:t> </a:t>
            </a:r>
            <a:r>
              <a:rPr spc="-40" dirty="0"/>
              <a:t>квест-маршрут,</a:t>
            </a:r>
            <a:r>
              <a:rPr spc="-20" dirty="0"/>
              <a:t> </a:t>
            </a:r>
            <a:r>
              <a:rPr spc="-10" dirty="0"/>
              <a:t>начатый</a:t>
            </a:r>
            <a:r>
              <a:rPr spc="-85" dirty="0"/>
              <a:t> </a:t>
            </a:r>
            <a:r>
              <a:rPr spc="-20" dirty="0"/>
              <a:t>дневничок</a:t>
            </a:r>
            <a:r>
              <a:rPr spc="-70" dirty="0"/>
              <a:t> </a:t>
            </a:r>
            <a:r>
              <a:rPr dirty="0"/>
              <a:t>посещений</a:t>
            </a:r>
            <a:r>
              <a:rPr spc="-65" dirty="0"/>
              <a:t> </a:t>
            </a:r>
            <a:r>
              <a:rPr dirty="0"/>
              <a:t>и</a:t>
            </a:r>
            <a:r>
              <a:rPr spc="-85" dirty="0"/>
              <a:t> </a:t>
            </a:r>
            <a:r>
              <a:rPr spc="-20" dirty="0"/>
              <a:t>т.п.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"/>
          <p:cNvSpPr txBox="1">
            <a:spLocks noGrp="1"/>
          </p:cNvSpPr>
          <p:nvPr>
            <p:ph type="title"/>
          </p:nvPr>
        </p:nvSpPr>
        <p:spPr>
          <a:xfrm>
            <a:off x="715963" y="163015"/>
            <a:ext cx="8160911" cy="1310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rebuchet MS"/>
              <a:buNone/>
            </a:pPr>
            <a:r>
              <a:rPr lang="ru-RU" dirty="0"/>
              <a:t>Запрещенные фразы при продажах</a:t>
            </a:r>
            <a:endParaRPr dirty="0"/>
          </a:p>
        </p:txBody>
      </p:sp>
      <p:sp>
        <p:nvSpPr>
          <p:cNvPr id="576" name="Google Shape;576;p7"/>
          <p:cNvSpPr txBox="1"/>
          <p:nvPr/>
        </p:nvSpPr>
        <p:spPr>
          <a:xfrm>
            <a:off x="715963" y="1871329"/>
            <a:ext cx="10052424" cy="3944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sz="2400" dirty="0">
                <a:solidFill>
                  <a:schemeClr val="bg1">
                    <a:lumMod val="50000"/>
                  </a:schemeClr>
                </a:solidFill>
              </a:rPr>
              <a:t>❌ «Ну, думайте».</a:t>
            </a:r>
          </a:p>
          <a:p>
            <a:r>
              <a:rPr lang="ru-RU" sz="2400" dirty="0">
                <a:solidFill>
                  <a:schemeClr val="bg1">
                    <a:lumMod val="50000"/>
                  </a:schemeClr>
                </a:solidFill>
              </a:rPr>
              <a:t>❌ «Про цены я ничего не знаю».</a:t>
            </a:r>
          </a:p>
          <a:p>
            <a:r>
              <a:rPr lang="ru-RU" sz="2400" dirty="0">
                <a:solidFill>
                  <a:schemeClr val="bg1">
                    <a:lumMod val="50000"/>
                  </a:schemeClr>
                </a:solidFill>
              </a:rPr>
              <a:t>❌ «Подойдет ли ему - сложно сказать».</a:t>
            </a:r>
          </a:p>
          <a:p>
            <a:r>
              <a:rPr lang="ru-RU" sz="2400" dirty="0">
                <a:solidFill>
                  <a:schemeClr val="bg1">
                    <a:lumMod val="50000"/>
                  </a:schemeClr>
                </a:solidFill>
              </a:rPr>
              <a:t>❌ «У нас все группы хорошие».</a:t>
            </a:r>
          </a:p>
          <a:p>
            <a:r>
              <a:rPr lang="ru-RU" sz="2400" dirty="0">
                <a:solidFill>
                  <a:schemeClr val="bg1">
                    <a:lumMod val="50000"/>
                  </a:schemeClr>
                </a:solidFill>
              </a:rPr>
              <a:t>❌ «Запишетесь потом у администратора».</a:t>
            </a:r>
          </a:p>
          <a:p>
            <a:r>
              <a:rPr lang="ru-RU" sz="2400" dirty="0">
                <a:solidFill>
                  <a:schemeClr val="bg1">
                    <a:lumMod val="50000"/>
                  </a:schemeClr>
                </a:solidFill>
              </a:rPr>
              <a:t>❌ «Он сегодня что-то был невнимательный».</a:t>
            </a:r>
          </a:p>
        </p:txBody>
      </p:sp>
    </p:spTree>
    <p:extLst>
      <p:ext uri="{BB962C8B-B14F-4D97-AF65-F5344CB8AC3E}">
        <p14:creationId xmlns:p14="http://schemas.microsoft.com/office/powerpoint/2010/main" val="3037516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20720" y="2905201"/>
            <a:ext cx="4123054" cy="129921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695"/>
              </a:spcBef>
            </a:pPr>
            <a:r>
              <a:rPr sz="4400" spc="-10" dirty="0"/>
              <a:t>Показываем </a:t>
            </a:r>
            <a:r>
              <a:rPr sz="4400" spc="-20" dirty="0"/>
              <a:t>неравнодушие</a:t>
            </a:r>
            <a:endParaRPr sz="4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91" rIns="0" bIns="0" rtlCol="0">
            <a:spAutoFit/>
          </a:bodyPr>
          <a:lstStyle/>
          <a:p>
            <a:pPr marL="438784" marR="5080">
              <a:lnSpc>
                <a:spcPts val="3460"/>
              </a:lnSpc>
              <a:spcBef>
                <a:spcPts val="525"/>
              </a:spcBef>
            </a:pPr>
            <a:r>
              <a:rPr dirty="0"/>
              <a:t>Шаг</a:t>
            </a:r>
            <a:r>
              <a:rPr spc="-20" dirty="0"/>
              <a:t> </a:t>
            </a:r>
            <a:r>
              <a:rPr dirty="0"/>
              <a:t>8.</a:t>
            </a:r>
            <a:r>
              <a:rPr spc="-114" dirty="0"/>
              <a:t> </a:t>
            </a:r>
            <a:r>
              <a:rPr dirty="0"/>
              <a:t>Показать</a:t>
            </a:r>
            <a:r>
              <a:rPr spc="-75" dirty="0"/>
              <a:t> </a:t>
            </a:r>
            <a:r>
              <a:rPr dirty="0"/>
              <a:t>свою</a:t>
            </a:r>
            <a:r>
              <a:rPr spc="-95" dirty="0"/>
              <a:t> </a:t>
            </a:r>
            <a:r>
              <a:rPr spc="-20" dirty="0"/>
              <a:t>вовлеченность </a:t>
            </a:r>
            <a:r>
              <a:rPr dirty="0"/>
              <a:t>и</a:t>
            </a:r>
            <a:r>
              <a:rPr spc="5" dirty="0"/>
              <a:t> </a:t>
            </a:r>
            <a:r>
              <a:rPr spc="-10" dirty="0"/>
              <a:t>неравнодущие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2160270"/>
            <a:ext cx="169867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2562605"/>
            <a:ext cx="169867" cy="1767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6962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869"/>
              </a:spcBef>
            </a:pPr>
            <a:r>
              <a:rPr spc="-10" dirty="0"/>
              <a:t>Эмоционально</a:t>
            </a:r>
            <a:r>
              <a:rPr spc="-30" dirty="0"/>
              <a:t> </a:t>
            </a:r>
            <a:r>
              <a:rPr spc="-10" dirty="0"/>
              <a:t>попрощаться</a:t>
            </a:r>
            <a:r>
              <a:rPr dirty="0"/>
              <a:t> с</a:t>
            </a:r>
            <a:r>
              <a:rPr spc="-50" dirty="0"/>
              <a:t> </a:t>
            </a:r>
            <a:r>
              <a:rPr spc="-10" dirty="0"/>
              <a:t>ребенком</a:t>
            </a:r>
          </a:p>
          <a:p>
            <a:pPr marL="469900" marR="5080">
              <a:lnSpc>
                <a:spcPts val="2160"/>
              </a:lnSpc>
              <a:spcBef>
                <a:spcPts val="1045"/>
              </a:spcBef>
            </a:pPr>
            <a:r>
              <a:rPr spc="-25" dirty="0"/>
              <a:t>Сказать</a:t>
            </a:r>
            <a:r>
              <a:rPr spc="-60" dirty="0"/>
              <a:t> </a:t>
            </a:r>
            <a:r>
              <a:rPr dirty="0"/>
              <a:t>«Я</a:t>
            </a:r>
            <a:r>
              <a:rPr spc="-75" dirty="0"/>
              <a:t> </a:t>
            </a:r>
            <a:r>
              <a:rPr dirty="0"/>
              <a:t>тебя</a:t>
            </a:r>
            <a:r>
              <a:rPr spc="-95" dirty="0"/>
              <a:t> </a:t>
            </a:r>
            <a:r>
              <a:rPr dirty="0"/>
              <a:t>жду</a:t>
            </a:r>
            <a:r>
              <a:rPr spc="-80" dirty="0"/>
              <a:t> </a:t>
            </a:r>
            <a:r>
              <a:rPr dirty="0"/>
              <a:t>на</a:t>
            </a:r>
            <a:r>
              <a:rPr spc="-90" dirty="0"/>
              <a:t> </a:t>
            </a:r>
            <a:r>
              <a:rPr spc="-10" dirty="0"/>
              <a:t>следующем</a:t>
            </a:r>
            <a:r>
              <a:rPr spc="-5" dirty="0"/>
              <a:t> </a:t>
            </a:r>
            <a:r>
              <a:rPr spc="-10" dirty="0"/>
              <a:t>уроке»,</a:t>
            </a:r>
            <a:r>
              <a:rPr spc="-20" dirty="0"/>
              <a:t> </a:t>
            </a:r>
            <a:r>
              <a:rPr dirty="0"/>
              <a:t>«Ты</a:t>
            </a:r>
            <a:r>
              <a:rPr spc="-85" dirty="0"/>
              <a:t> </a:t>
            </a:r>
            <a:r>
              <a:rPr dirty="0"/>
              <a:t>мне</a:t>
            </a:r>
            <a:r>
              <a:rPr spc="-90" dirty="0"/>
              <a:t> </a:t>
            </a:r>
            <a:r>
              <a:rPr spc="-10" dirty="0"/>
              <a:t>очень</a:t>
            </a:r>
            <a:r>
              <a:rPr spc="-75" dirty="0"/>
              <a:t> </a:t>
            </a:r>
            <a:r>
              <a:rPr spc="-10" dirty="0"/>
              <a:t>понравился», </a:t>
            </a:r>
            <a:r>
              <a:rPr dirty="0"/>
              <a:t>похвалить</a:t>
            </a:r>
            <a:r>
              <a:rPr spc="-45" dirty="0"/>
              <a:t> </a:t>
            </a:r>
            <a:r>
              <a:rPr spc="-10" dirty="0"/>
              <a:t>маме</a:t>
            </a:r>
            <a:r>
              <a:rPr spc="-65" dirty="0"/>
              <a:t> </a:t>
            </a:r>
            <a:r>
              <a:rPr dirty="0"/>
              <a:t>«ну</a:t>
            </a:r>
            <a:r>
              <a:rPr spc="-65" dirty="0"/>
              <a:t> </a:t>
            </a:r>
            <a:r>
              <a:rPr spc="-20" dirty="0"/>
              <a:t>какой</a:t>
            </a:r>
            <a:r>
              <a:rPr spc="-50" dirty="0"/>
              <a:t> </a:t>
            </a:r>
            <a:r>
              <a:rPr dirty="0"/>
              <a:t>у</a:t>
            </a:r>
            <a:r>
              <a:rPr spc="-90" dirty="0"/>
              <a:t> </a:t>
            </a:r>
            <a:r>
              <a:rPr dirty="0"/>
              <a:t>вас</a:t>
            </a:r>
            <a:r>
              <a:rPr spc="-55" dirty="0"/>
              <a:t> </a:t>
            </a:r>
            <a:r>
              <a:rPr spc="-10" dirty="0"/>
              <a:t>отличный</a:t>
            </a:r>
            <a:r>
              <a:rPr spc="-65" dirty="0"/>
              <a:t> </a:t>
            </a:r>
            <a:r>
              <a:rPr spc="-20" dirty="0"/>
              <a:t>любознательный</a:t>
            </a:r>
            <a:r>
              <a:rPr spc="-25" dirty="0"/>
              <a:t> </a:t>
            </a:r>
            <a:r>
              <a:rPr spc="-10" dirty="0"/>
              <a:t>мальчишка»,</a:t>
            </a:r>
          </a:p>
          <a:p>
            <a:pPr marL="469900">
              <a:lnSpc>
                <a:spcPts val="2130"/>
              </a:lnSpc>
            </a:pPr>
            <a:r>
              <a:rPr dirty="0"/>
              <a:t>«вот</a:t>
            </a:r>
            <a:r>
              <a:rPr spc="-45" dirty="0"/>
              <a:t> </a:t>
            </a:r>
            <a:r>
              <a:rPr dirty="0"/>
              <a:t>это</a:t>
            </a:r>
            <a:r>
              <a:rPr spc="-45" dirty="0"/>
              <a:t> </a:t>
            </a:r>
            <a:r>
              <a:rPr dirty="0"/>
              <a:t>у</a:t>
            </a:r>
            <a:r>
              <a:rPr spc="-60" dirty="0"/>
              <a:t> </a:t>
            </a:r>
            <a:r>
              <a:rPr dirty="0"/>
              <a:t>вас</a:t>
            </a:r>
            <a:r>
              <a:rPr spc="-60" dirty="0"/>
              <a:t> </a:t>
            </a:r>
            <a:r>
              <a:rPr dirty="0"/>
              <a:t>парень</a:t>
            </a:r>
            <a:r>
              <a:rPr spc="-30" dirty="0"/>
              <a:t> </a:t>
            </a:r>
            <a:r>
              <a:rPr spc="-10" dirty="0"/>
              <a:t>растёт»</a:t>
            </a:r>
          </a:p>
          <a:p>
            <a:pPr marL="469900">
              <a:lnSpc>
                <a:spcPct val="100000"/>
              </a:lnSpc>
              <a:spcBef>
                <a:spcPts val="745"/>
              </a:spcBef>
            </a:pPr>
            <a:r>
              <a:rPr spc="-25" dirty="0"/>
              <a:t>Добавить</a:t>
            </a:r>
            <a:r>
              <a:rPr spc="-65" dirty="0"/>
              <a:t> </a:t>
            </a:r>
            <a:r>
              <a:rPr dirty="0"/>
              <a:t>маму</a:t>
            </a:r>
            <a:r>
              <a:rPr spc="-85" dirty="0"/>
              <a:t> </a:t>
            </a:r>
            <a:r>
              <a:rPr dirty="0"/>
              <a:t>в</a:t>
            </a:r>
            <a:r>
              <a:rPr spc="-95" dirty="0"/>
              <a:t> </a:t>
            </a:r>
            <a:r>
              <a:rPr dirty="0"/>
              <a:t>чат</a:t>
            </a:r>
            <a:r>
              <a:rPr spc="-80" dirty="0"/>
              <a:t> </a:t>
            </a:r>
            <a:r>
              <a:rPr spc="-10" dirty="0"/>
              <a:t>группы,</a:t>
            </a:r>
            <a:r>
              <a:rPr spc="-20" dirty="0"/>
              <a:t> </a:t>
            </a:r>
            <a:r>
              <a:rPr dirty="0"/>
              <a:t>объяснить,</a:t>
            </a:r>
            <a:r>
              <a:rPr spc="-80" dirty="0"/>
              <a:t> </a:t>
            </a:r>
            <a:r>
              <a:rPr spc="-30" dirty="0"/>
              <a:t>зачем</a:t>
            </a:r>
            <a:r>
              <a:rPr spc="-80" dirty="0"/>
              <a:t> </a:t>
            </a:r>
            <a:r>
              <a:rPr dirty="0"/>
              <a:t>им</a:t>
            </a:r>
            <a:r>
              <a:rPr spc="-95" dirty="0"/>
              <a:t> </a:t>
            </a:r>
            <a:r>
              <a:rPr dirty="0"/>
              <a:t>там</a:t>
            </a:r>
            <a:r>
              <a:rPr spc="-80" dirty="0"/>
              <a:t> </a:t>
            </a:r>
            <a:r>
              <a:rPr spc="-20" dirty="0"/>
              <a:t>быть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3510534"/>
            <a:ext cx="169867" cy="17678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20720" y="3508959"/>
            <a:ext cx="514159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Передаём</a:t>
            </a:r>
            <a:r>
              <a:rPr sz="4400" spc="-195" dirty="0"/>
              <a:t> </a:t>
            </a:r>
            <a:r>
              <a:rPr sz="4400" spc="-10" dirty="0"/>
              <a:t>клиента</a:t>
            </a:r>
            <a:endParaRPr sz="4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191" rIns="0" bIns="0" rtlCol="0">
            <a:spAutoFit/>
          </a:bodyPr>
          <a:lstStyle/>
          <a:p>
            <a:pPr marL="438784" marR="5080">
              <a:lnSpc>
                <a:spcPts val="3460"/>
              </a:lnSpc>
              <a:spcBef>
                <a:spcPts val="525"/>
              </a:spcBef>
            </a:pPr>
            <a:r>
              <a:rPr dirty="0"/>
              <a:t>Шаг</a:t>
            </a:r>
            <a:r>
              <a:rPr spc="-30" dirty="0"/>
              <a:t> </a:t>
            </a:r>
            <a:r>
              <a:rPr dirty="0"/>
              <a:t>9.</a:t>
            </a:r>
            <a:r>
              <a:rPr spc="-125" dirty="0"/>
              <a:t> </a:t>
            </a:r>
            <a:r>
              <a:rPr dirty="0"/>
              <a:t>Передать</a:t>
            </a:r>
            <a:r>
              <a:rPr spc="-55" dirty="0"/>
              <a:t> </a:t>
            </a:r>
            <a:r>
              <a:rPr dirty="0"/>
              <a:t>семью</a:t>
            </a:r>
            <a:r>
              <a:rPr spc="-80" dirty="0"/>
              <a:t> </a:t>
            </a:r>
            <a:r>
              <a:rPr spc="-10" dirty="0"/>
              <a:t>(семьи) администратору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2160270"/>
            <a:ext cx="169867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2836926"/>
            <a:ext cx="169867" cy="176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3510534"/>
            <a:ext cx="169867" cy="1767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44142" y="2069337"/>
            <a:ext cx="8858250" cy="1954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90"/>
              </a:spcBef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Объяснить,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у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администратора</a:t>
            </a:r>
            <a:r>
              <a:rPr sz="2000" spc="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есть</a:t>
            </a:r>
            <a:r>
              <a:rPr sz="20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пакет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для</a:t>
            </a:r>
            <a:r>
              <a:rPr sz="2000" spc="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пробничков</a:t>
            </a:r>
            <a:r>
              <a:rPr sz="2000" spc="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(возможно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подарок)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ts val="2280"/>
              </a:lnSpc>
              <a:spcBef>
                <a:spcPts val="770"/>
              </a:spcBef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Передать</a:t>
            </a:r>
            <a:r>
              <a:rPr sz="20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семьи</a:t>
            </a:r>
            <a:r>
              <a:rPr sz="20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администратору,</a:t>
            </a:r>
            <a:r>
              <a:rPr sz="2000" spc="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рассказать,</a:t>
            </a:r>
            <a:r>
              <a:rPr sz="20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20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20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записываете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ребенка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 занятие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ts val="2280"/>
              </a:lnSpc>
              <a:spcBef>
                <a:spcPts val="750"/>
              </a:spcBef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Помочь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администратору,</a:t>
            </a:r>
            <a:r>
              <a:rPr sz="2000" spc="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если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она</a:t>
            </a:r>
            <a:r>
              <a:rPr sz="20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«зашивается»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еще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пообщаться</a:t>
            </a:r>
            <a:r>
              <a:rPr sz="2000" spc="-1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с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детьми,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пока</a:t>
            </a:r>
            <a:r>
              <a:rPr sz="20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администратор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займет</a:t>
            </a:r>
            <a:r>
              <a:rPr sz="20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мам.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879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Алгоритм</a:t>
            </a:r>
            <a:r>
              <a:rPr sz="4400" spc="-200" dirty="0"/>
              <a:t> </a:t>
            </a:r>
            <a:r>
              <a:rPr sz="4400" spc="-10" dirty="0"/>
              <a:t>(повторение)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01" y="1699260"/>
            <a:ext cx="180652" cy="1950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01" y="2058923"/>
            <a:ext cx="180652" cy="1950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01" y="2421635"/>
            <a:ext cx="180652" cy="1950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01" y="3019044"/>
            <a:ext cx="180652" cy="1950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01" y="3378708"/>
            <a:ext cx="180652" cy="1950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01" y="3741420"/>
            <a:ext cx="180652" cy="1950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01" y="4104132"/>
            <a:ext cx="180652" cy="19507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01" y="4463796"/>
            <a:ext cx="180652" cy="19507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76706" y="1579270"/>
            <a:ext cx="7893050" cy="35140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Установить</a:t>
            </a:r>
            <a:r>
              <a:rPr sz="2200" spc="-1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правила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Выявить</a:t>
            </a:r>
            <a:r>
              <a:rPr sz="22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запроc/потребность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ts val="2245"/>
              </a:lnSpc>
              <a:spcBef>
                <a:spcPts val="215"/>
              </a:spcBef>
            </a:pP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Провести</a:t>
            </a:r>
            <a:r>
              <a:rPr sz="22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занятие</a:t>
            </a:r>
            <a:r>
              <a:rPr sz="22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(подружить</a:t>
            </a:r>
            <a:r>
              <a:rPr sz="22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детей,</a:t>
            </a:r>
            <a:r>
              <a:rPr sz="22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дать</a:t>
            </a:r>
            <a:r>
              <a:rPr sz="22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детям</a:t>
            </a:r>
            <a:r>
              <a:rPr sz="22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задание</a:t>
            </a:r>
            <a:r>
              <a:rPr sz="22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ts val="2245"/>
              </a:lnSpc>
            </a:pP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будущее)</a:t>
            </a:r>
            <a:endParaRPr sz="2200">
              <a:latin typeface="Microsoft Sans Serif"/>
              <a:cs typeface="Microsoft Sans Serif"/>
            </a:endParaRPr>
          </a:p>
          <a:p>
            <a:pPr marL="12700" marR="3539490">
              <a:lnSpc>
                <a:spcPct val="107800"/>
              </a:lnSpc>
              <a:spcBef>
                <a:spcPts val="15"/>
              </a:spcBef>
            </a:pPr>
            <a:r>
              <a:rPr sz="22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Дать</a:t>
            </a:r>
            <a:r>
              <a:rPr sz="22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обратную</a:t>
            </a:r>
            <a:r>
              <a:rPr sz="22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связь</a:t>
            </a:r>
            <a:r>
              <a:rPr sz="22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22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ребенке </a:t>
            </a:r>
            <a:r>
              <a:rPr sz="22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Рассказать</a:t>
            </a:r>
            <a:r>
              <a:rPr sz="22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о</a:t>
            </a:r>
            <a:r>
              <a:rPr sz="22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курсе</a:t>
            </a:r>
            <a:r>
              <a:rPr sz="22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2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результатах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Вызвать</a:t>
            </a:r>
            <a:r>
              <a:rPr sz="22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доверие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Проявить</a:t>
            </a:r>
            <a:r>
              <a:rPr sz="22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эмпатию</a:t>
            </a:r>
            <a:r>
              <a:rPr sz="22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2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неравнодушие</a:t>
            </a:r>
            <a:endParaRPr sz="2200">
              <a:latin typeface="Microsoft Sans Serif"/>
              <a:cs typeface="Microsoft Sans Serif"/>
            </a:endParaRPr>
          </a:p>
          <a:p>
            <a:pPr marL="12700" marR="1556385">
              <a:lnSpc>
                <a:spcPts val="2860"/>
              </a:lnSpc>
              <a:spcBef>
                <a:spcPts val="75"/>
              </a:spcBef>
            </a:pP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Продать</a:t>
            </a:r>
            <a:r>
              <a:rPr sz="22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необходимость</a:t>
            </a:r>
            <a:r>
              <a:rPr sz="2200" spc="-1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присоединиться</a:t>
            </a:r>
            <a:r>
              <a:rPr sz="2200" spc="-1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сейчас </a:t>
            </a:r>
            <a:r>
              <a:rPr sz="22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Передать</a:t>
            </a:r>
            <a:r>
              <a:rPr sz="22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клиента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01" y="4826508"/>
            <a:ext cx="180652" cy="19507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87902" y="3308680"/>
            <a:ext cx="64922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dirty="0">
                <a:solidFill>
                  <a:srgbClr val="8645A0"/>
                </a:solidFill>
                <a:latin typeface="Arial"/>
                <a:cs typeface="Arial"/>
              </a:rPr>
              <a:t>Что</a:t>
            </a:r>
            <a:r>
              <a:rPr sz="4400" b="1" spc="-105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spc="-10" dirty="0">
                <a:solidFill>
                  <a:srgbClr val="8645A0"/>
                </a:solidFill>
                <a:latin typeface="Arial"/>
                <a:cs typeface="Arial"/>
              </a:rPr>
              <a:t>может</a:t>
            </a:r>
            <a:r>
              <a:rPr sz="4400" b="1" spc="-185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8645A0"/>
                </a:solidFill>
                <a:latin typeface="Arial"/>
                <a:cs typeface="Arial"/>
              </a:rPr>
              <a:t>пойти</a:t>
            </a:r>
            <a:r>
              <a:rPr sz="4400" b="1" spc="-80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8645A0"/>
                </a:solidFill>
                <a:latin typeface="Arial"/>
                <a:cs typeface="Arial"/>
              </a:rPr>
              <a:t>не</a:t>
            </a:r>
            <a:r>
              <a:rPr sz="4400" b="1" spc="-140" dirty="0">
                <a:solidFill>
                  <a:srgbClr val="8645A0"/>
                </a:solidFill>
                <a:latin typeface="Arial"/>
                <a:cs typeface="Arial"/>
              </a:rPr>
              <a:t> </a:t>
            </a:r>
            <a:r>
              <a:rPr sz="4400" b="1" spc="-25" dirty="0">
                <a:solidFill>
                  <a:srgbClr val="8645A0"/>
                </a:solidFill>
                <a:latin typeface="Arial"/>
                <a:cs typeface="Arial"/>
              </a:rPr>
              <a:t>так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856" y="1554480"/>
            <a:ext cx="3337560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732" rIns="0" bIns="0" rtlCol="0">
            <a:spAutoFit/>
          </a:bodyPr>
          <a:lstStyle/>
          <a:p>
            <a:pPr marL="438784">
              <a:lnSpc>
                <a:spcPct val="100000"/>
              </a:lnSpc>
              <a:spcBef>
                <a:spcPts val="95"/>
              </a:spcBef>
            </a:pPr>
            <a:r>
              <a:rPr dirty="0"/>
              <a:t>Что</a:t>
            </a:r>
            <a:r>
              <a:rPr spc="-90" dirty="0"/>
              <a:t> </a:t>
            </a:r>
            <a:r>
              <a:rPr dirty="0"/>
              <a:t>может</a:t>
            </a:r>
            <a:r>
              <a:rPr spc="-55" dirty="0"/>
              <a:t> </a:t>
            </a:r>
            <a:r>
              <a:rPr dirty="0"/>
              <a:t>пойти</a:t>
            </a:r>
            <a:r>
              <a:rPr spc="-95" dirty="0"/>
              <a:t> </a:t>
            </a:r>
            <a:r>
              <a:rPr dirty="0"/>
              <a:t>не</a:t>
            </a:r>
            <a:r>
              <a:rPr spc="-110" dirty="0"/>
              <a:t> </a:t>
            </a:r>
            <a:r>
              <a:rPr spc="-25" dirty="0"/>
              <a:t>так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2961894"/>
            <a:ext cx="169867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3364229"/>
            <a:ext cx="169867" cy="176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3766565"/>
            <a:ext cx="169867" cy="1767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4165853"/>
            <a:ext cx="169867" cy="1767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44142" y="2771971"/>
            <a:ext cx="6572250" cy="20358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пробное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пришёл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один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ребенок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Ребенок</a:t>
            </a:r>
            <a:r>
              <a:rPr sz="20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соответствует</a:t>
            </a:r>
            <a:r>
              <a:rPr sz="2000" spc="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группе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0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Ребенок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может</a:t>
            </a:r>
            <a:r>
              <a:rPr sz="20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заниматься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группе</a:t>
            </a:r>
            <a:r>
              <a:rPr sz="2000" spc="1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в</a:t>
            </a:r>
            <a:r>
              <a:rPr sz="20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силу</a:t>
            </a:r>
            <a:r>
              <a:rPr sz="20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диагноза</a:t>
            </a:r>
            <a:endParaRPr sz="2000">
              <a:latin typeface="Microsoft Sans Serif"/>
              <a:cs typeface="Microsoft Sans Serif"/>
            </a:endParaRPr>
          </a:p>
          <a:p>
            <a:pPr marL="12700" marR="782955">
              <a:lnSpc>
                <a:spcPts val="3170"/>
              </a:lnSpc>
              <a:spcBef>
                <a:spcPts val="75"/>
              </a:spcBef>
            </a:pPr>
            <a:r>
              <a:rPr sz="20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Ребенок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</a:t>
            </a:r>
            <a:r>
              <a:rPr sz="20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занимается,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сидит</a:t>
            </a:r>
            <a:r>
              <a:rPr sz="20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тихонечко,</a:t>
            </a:r>
            <a:r>
              <a:rPr sz="20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боится </a:t>
            </a:r>
            <a:r>
              <a:rPr sz="20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Ребенок</a:t>
            </a:r>
            <a:r>
              <a:rPr sz="20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плачет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917" y="4568190"/>
            <a:ext cx="169867" cy="17678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238" y="1834133"/>
            <a:ext cx="213008" cy="2316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238" y="2239517"/>
            <a:ext cx="213008" cy="2316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238" y="2644901"/>
            <a:ext cx="213008" cy="2316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238" y="3324605"/>
            <a:ext cx="213008" cy="2316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238" y="4007358"/>
            <a:ext cx="213008" cy="2316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238" y="4967478"/>
            <a:ext cx="213008" cy="2316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28597" y="1721866"/>
            <a:ext cx="8950325" cy="41103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«Что-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то</a:t>
            </a:r>
            <a:r>
              <a:rPr sz="26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мешает</a:t>
            </a:r>
            <a:r>
              <a:rPr sz="26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ребенку, </a:t>
            </a:r>
            <a:r>
              <a:rPr sz="26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как</a:t>
            </a:r>
            <a:r>
              <a:rPr sz="26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26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думаете,</a:t>
            </a:r>
            <a:r>
              <a:rPr sz="2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26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это»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«Давайте</a:t>
            </a:r>
            <a:r>
              <a:rPr sz="26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подумаем,</a:t>
            </a:r>
            <a:r>
              <a:rPr sz="26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чем</a:t>
            </a:r>
            <a:r>
              <a:rPr sz="2600" spc="-1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мы</a:t>
            </a:r>
            <a:r>
              <a:rPr sz="2600" spc="-10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можем</a:t>
            </a:r>
            <a:r>
              <a:rPr sz="26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ему</a:t>
            </a:r>
            <a:r>
              <a:rPr sz="26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помочь»</a:t>
            </a:r>
            <a:endParaRPr sz="2600">
              <a:latin typeface="Microsoft Sans Serif"/>
              <a:cs typeface="Microsoft Sans Serif"/>
            </a:endParaRPr>
          </a:p>
          <a:p>
            <a:pPr marL="12700" marR="252095">
              <a:lnSpc>
                <a:spcPct val="70000"/>
              </a:lnSpc>
              <a:spcBef>
                <a:spcPts val="1010"/>
              </a:spcBef>
            </a:pP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«Чтобы</a:t>
            </a:r>
            <a:r>
              <a:rPr sz="26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я</a:t>
            </a:r>
            <a:r>
              <a:rPr sz="2600" spc="-1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могла</a:t>
            </a:r>
            <a:r>
              <a:rPr sz="26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понять,</a:t>
            </a:r>
            <a:r>
              <a:rPr sz="26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как</a:t>
            </a:r>
            <a:r>
              <a:rPr sz="26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найти</a:t>
            </a:r>
            <a:r>
              <a:rPr sz="2600" spc="-1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подход</a:t>
            </a:r>
            <a:r>
              <a:rPr sz="26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к</a:t>
            </a:r>
            <a:r>
              <a:rPr sz="2600" spc="-1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ребенку,</a:t>
            </a:r>
            <a:r>
              <a:rPr sz="26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мне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нужны</a:t>
            </a:r>
            <a:r>
              <a:rPr sz="26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рекомендации</a:t>
            </a:r>
            <a:r>
              <a:rPr sz="26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от</a:t>
            </a:r>
            <a:r>
              <a:rPr sz="26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специалиста»</a:t>
            </a:r>
            <a:endParaRPr sz="2600">
              <a:latin typeface="Microsoft Sans Serif"/>
              <a:cs typeface="Microsoft Sans Serif"/>
            </a:endParaRPr>
          </a:p>
          <a:p>
            <a:pPr marL="12700" marR="5080">
              <a:lnSpc>
                <a:spcPct val="70000"/>
              </a:lnSpc>
              <a:spcBef>
                <a:spcPts val="985"/>
              </a:spcBef>
            </a:pPr>
            <a:r>
              <a:rPr sz="2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«Давайте</a:t>
            </a:r>
            <a:r>
              <a:rPr sz="26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поступим</a:t>
            </a:r>
            <a:r>
              <a:rPr sz="26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так,</a:t>
            </a:r>
            <a:r>
              <a:rPr sz="2600" spc="-1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я</a:t>
            </a:r>
            <a:r>
              <a:rPr sz="2600" spc="-12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предлагаю</a:t>
            </a:r>
            <a:r>
              <a:rPr sz="26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начать</a:t>
            </a:r>
            <a:r>
              <a:rPr sz="2600" spc="-1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заниматься</a:t>
            </a:r>
            <a:r>
              <a:rPr sz="2600" spc="-9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в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этой</a:t>
            </a:r>
            <a:r>
              <a:rPr sz="26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группе,</a:t>
            </a:r>
            <a:r>
              <a:rPr sz="2600" spc="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но</a:t>
            </a:r>
            <a:r>
              <a:rPr sz="26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175" dirty="0">
                <a:solidFill>
                  <a:srgbClr val="303030"/>
                </a:solidFill>
                <a:latin typeface="Microsoft Sans Serif"/>
                <a:cs typeface="Microsoft Sans Serif"/>
              </a:rPr>
              <a:t>если…,</a:t>
            </a:r>
            <a:r>
              <a:rPr sz="2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235" dirty="0">
                <a:solidFill>
                  <a:srgbClr val="303030"/>
                </a:solidFill>
                <a:latin typeface="Microsoft Sans Serif"/>
                <a:cs typeface="Microsoft Sans Serif"/>
              </a:rPr>
              <a:t>то…»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ts val="2650"/>
              </a:lnSpc>
              <a:spcBef>
                <a:spcPts val="75"/>
              </a:spcBef>
            </a:pPr>
            <a:r>
              <a:rPr sz="2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«Давайте</a:t>
            </a:r>
            <a:r>
              <a:rPr sz="26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поступим</a:t>
            </a:r>
            <a:r>
              <a:rPr sz="2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так,</a:t>
            </a:r>
            <a:r>
              <a:rPr sz="26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вы</a:t>
            </a:r>
            <a:r>
              <a:rPr sz="26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пока</a:t>
            </a:r>
            <a:r>
              <a:rPr sz="26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</a:t>
            </a:r>
            <a:r>
              <a:rPr sz="26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будете</a:t>
            </a:r>
            <a:r>
              <a:rPr sz="26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покупать</a:t>
            </a:r>
            <a:endParaRPr sz="2600">
              <a:latin typeface="Microsoft Sans Serif"/>
              <a:cs typeface="Microsoft Sans Serif"/>
            </a:endParaRPr>
          </a:p>
          <a:p>
            <a:pPr marL="12700" marR="628015">
              <a:lnSpc>
                <a:spcPct val="70100"/>
              </a:lnSpc>
              <a:spcBef>
                <a:spcPts val="465"/>
              </a:spcBef>
            </a:pP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полный</a:t>
            </a:r>
            <a:r>
              <a:rPr sz="26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абонемент,</a:t>
            </a:r>
            <a:r>
              <a:rPr sz="26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а</a:t>
            </a:r>
            <a:r>
              <a:rPr sz="26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придете</a:t>
            </a:r>
            <a:r>
              <a:rPr sz="2600" spc="-3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на</a:t>
            </a:r>
            <a:r>
              <a:rPr sz="26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следующее</a:t>
            </a:r>
            <a:r>
              <a:rPr sz="26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занятий,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оплатив</a:t>
            </a:r>
            <a:r>
              <a:rPr sz="2600" spc="-4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его</a:t>
            </a:r>
            <a:r>
              <a:rPr sz="26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разово,</a:t>
            </a:r>
            <a:r>
              <a:rPr sz="26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600" spc="-8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95" dirty="0">
                <a:solidFill>
                  <a:srgbClr val="303030"/>
                </a:solidFill>
                <a:latin typeface="Microsoft Sans Serif"/>
                <a:cs typeface="Microsoft Sans Serif"/>
              </a:rPr>
              <a:t>затем…»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ts val="2655"/>
              </a:lnSpc>
              <a:spcBef>
                <a:spcPts val="70"/>
              </a:spcBef>
            </a:pP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«Я</a:t>
            </a:r>
            <a:r>
              <a:rPr sz="26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303030"/>
                </a:solidFill>
                <a:latin typeface="Microsoft Sans Serif"/>
                <a:cs typeface="Microsoft Sans Serif"/>
              </a:rPr>
              <a:t>вижу,</a:t>
            </a:r>
            <a:r>
              <a:rPr sz="26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2600" spc="-8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это</a:t>
            </a:r>
            <a:r>
              <a:rPr sz="26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занятие,</a:t>
            </a:r>
            <a:r>
              <a:rPr sz="26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не</a:t>
            </a:r>
            <a:r>
              <a:rPr sz="2600" spc="-10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очень</a:t>
            </a:r>
            <a:r>
              <a:rPr sz="2600" spc="-9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подошло</a:t>
            </a:r>
            <a:r>
              <a:rPr sz="2600" spc="-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Ванечке,</a:t>
            </a:r>
            <a:r>
              <a:rPr sz="2600" spc="-3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но</a:t>
            </a:r>
            <a:endParaRPr sz="2600">
              <a:latin typeface="Microsoft Sans Serif"/>
              <a:cs typeface="Microsoft Sans Serif"/>
            </a:endParaRPr>
          </a:p>
          <a:p>
            <a:pPr marL="12700" marR="587375">
              <a:lnSpc>
                <a:spcPct val="70000"/>
              </a:lnSpc>
              <a:spcBef>
                <a:spcPts val="470"/>
              </a:spcBef>
            </a:pP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очевидно,</a:t>
            </a:r>
            <a:r>
              <a:rPr sz="2600" spc="-2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что</a:t>
            </a:r>
            <a:r>
              <a:rPr sz="26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он</a:t>
            </a:r>
            <a:r>
              <a:rPr sz="2600" spc="-7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очень</a:t>
            </a:r>
            <a:r>
              <a:rPr sz="2600" spc="57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любознательный</a:t>
            </a:r>
            <a:r>
              <a:rPr sz="2600" spc="-4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ребенок,</a:t>
            </a:r>
            <a:r>
              <a:rPr sz="2600" spc="-60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и</a:t>
            </a:r>
            <a:r>
              <a:rPr sz="26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50" dirty="0">
                <a:solidFill>
                  <a:srgbClr val="303030"/>
                </a:solidFill>
                <a:latin typeface="Microsoft Sans Serif"/>
                <a:cs typeface="Microsoft Sans Serif"/>
              </a:rPr>
              <a:t>я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могу</a:t>
            </a:r>
            <a:r>
              <a:rPr sz="2600" spc="-114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303030"/>
                </a:solidFill>
                <a:latin typeface="Microsoft Sans Serif"/>
                <a:cs typeface="Microsoft Sans Serif"/>
              </a:rPr>
              <a:t>вам</a:t>
            </a:r>
            <a:r>
              <a:rPr sz="2600" spc="-114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303030"/>
                </a:solidFill>
                <a:latin typeface="Microsoft Sans Serif"/>
                <a:cs typeface="Microsoft Sans Serif"/>
              </a:rPr>
              <a:t>посоветовать</a:t>
            </a:r>
            <a:r>
              <a:rPr sz="26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303030"/>
                </a:solidFill>
                <a:latin typeface="Microsoft Sans Serif"/>
                <a:cs typeface="Microsoft Sans Serif"/>
              </a:rPr>
              <a:t>попробовать</a:t>
            </a:r>
            <a:r>
              <a:rPr sz="2600" spc="-65" dirty="0">
                <a:solidFill>
                  <a:srgbClr val="303030"/>
                </a:solidFill>
                <a:latin typeface="Microsoft Sans Serif"/>
                <a:cs typeface="Microsoft Sans Serif"/>
              </a:rPr>
              <a:t> </a:t>
            </a:r>
            <a:r>
              <a:rPr sz="2600" spc="85" dirty="0">
                <a:solidFill>
                  <a:srgbClr val="303030"/>
                </a:solidFill>
                <a:latin typeface="Microsoft Sans Serif"/>
                <a:cs typeface="Microsoft Sans Serif"/>
              </a:rPr>
              <a:t>занятия…»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87902" y="3308680"/>
            <a:ext cx="6492240" cy="20435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400" b="1" dirty="0">
                <a:solidFill>
                  <a:srgbClr val="8645A0"/>
                </a:solidFill>
                <a:latin typeface="Arial"/>
                <a:cs typeface="Arial"/>
              </a:rPr>
              <a:t>Маршрут движения клиента на продающих мероприятиях</a:t>
            </a:r>
            <a:endParaRPr sz="44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856" y="1554480"/>
            <a:ext cx="3337560" cy="330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20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Маршрут работы администратора с клиентом">
            <a:extLst>
              <a:ext uri="{FF2B5EF4-FFF2-40B4-BE49-F238E27FC236}">
                <a16:creationId xmlns:a16="http://schemas.microsoft.com/office/drawing/2014/main" id="{E512F318-BBBC-E85C-82F8-229BA3BAAA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 descr="Изображение выглядит как текс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FE43CB21-1898-5F47-5AE6-396FED613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5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848</TotalTime>
  <Words>1490</Words>
  <Application>Microsoft Office PowerPoint</Application>
  <PresentationFormat>Широкоэкранный</PresentationFormat>
  <Paragraphs>201</Paragraphs>
  <Slides>42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7" baseType="lpstr">
      <vt:lpstr>Arial</vt:lpstr>
      <vt:lpstr>Calibri</vt:lpstr>
      <vt:lpstr>Microsoft Sans Serif</vt:lpstr>
      <vt:lpstr>Trebuchet MS</vt:lpstr>
      <vt:lpstr>Office Theme</vt:lpstr>
      <vt:lpstr>Презентация PowerPoint</vt:lpstr>
      <vt:lpstr>Сегодня вы узнаете</vt:lpstr>
      <vt:lpstr>Окнянская Нина</vt:lpstr>
      <vt:lpstr>Когда педагог продаёт</vt:lpstr>
      <vt:lpstr>Презентация PowerPoint</vt:lpstr>
      <vt:lpstr>Презентация PowerPoint</vt:lpstr>
      <vt:lpstr>Правила продаж</vt:lpstr>
      <vt:lpstr>Что хочет мама</vt:lpstr>
      <vt:lpstr>Как подготовиться к открытым занятиям и мастер-классам на продающих мероприятиях</vt:lpstr>
      <vt:lpstr>Важные моменты</vt:lpstr>
      <vt:lpstr>Универсальный алгоритм проведения продающего урока</vt:lpstr>
      <vt:lpstr>Алгоритм</vt:lpstr>
      <vt:lpstr>Установить правила</vt:lpstr>
      <vt:lpstr>Шаг 1. Установить правила</vt:lpstr>
      <vt:lpstr>Шаг 1. Установить правила</vt:lpstr>
      <vt:lpstr>Шаг 1. Установить правила</vt:lpstr>
      <vt:lpstr>Выявляем потребность</vt:lpstr>
      <vt:lpstr>Шаг 2. Выявить потребность и цель</vt:lpstr>
      <vt:lpstr>Впечатляем во время занятия</vt:lpstr>
      <vt:lpstr>Шаг 3. Провести занятие</vt:lpstr>
      <vt:lpstr>Касания «на будущее»</vt:lpstr>
      <vt:lpstr>Даём обратную связь</vt:lpstr>
      <vt:lpstr>Шаг 4. Дать обратную связь о детях</vt:lpstr>
      <vt:lpstr>Рассказываем о самом курсе</vt:lpstr>
      <vt:lpstr>Шаг 5. Описать результаты</vt:lpstr>
      <vt:lpstr>Вызываем доверие</vt:lpstr>
      <vt:lpstr>Шаг 6. Показать, что с вами можно их достичь</vt:lpstr>
      <vt:lpstr>Шаг 6. Показать, что с вами можно их достичь</vt:lpstr>
      <vt:lpstr>Продаём</vt:lpstr>
      <vt:lpstr>Шаг 7. Озвучить причины начать занятия как можно скорее</vt:lpstr>
      <vt:lpstr>Шаг 7. Озвучить причины начать занятия как можно скорее</vt:lpstr>
      <vt:lpstr>Запрещенные фразы при продажах</vt:lpstr>
      <vt:lpstr>Показываем неравнодушие</vt:lpstr>
      <vt:lpstr>Шаг 8. Показать свою вовлеченность и неравнодущие</vt:lpstr>
      <vt:lpstr>Передаём клиента</vt:lpstr>
      <vt:lpstr>Шаг 9. Передать семью (семьи) администратору</vt:lpstr>
      <vt:lpstr>Алгоритм (повторение)</vt:lpstr>
      <vt:lpstr>Презентация PowerPoint</vt:lpstr>
      <vt:lpstr>Что может пойти не так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Nina Oknyanskaya</dc:creator>
  <cp:lastModifiedBy>Nina Oknyanskaya</cp:lastModifiedBy>
  <cp:revision>5</cp:revision>
  <dcterms:created xsi:type="dcterms:W3CDTF">2026-08-19T20:13:58Z</dcterms:created>
  <dcterms:modified xsi:type="dcterms:W3CDTF">2026-08-20T10:23:12Z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2025-08-21T00:00:00Z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2026-08-19T00:00:00Z</vt:filetime>
  </property>
  <property fmtid="{D5CDD505-2E9C-101B-9397-08002B2CF9AE}" pid="6" name="Producer">
    <vt:lpwstr>www.ilovepdf.com</vt:lpwstr>
  </property>
</Properties>
</file>